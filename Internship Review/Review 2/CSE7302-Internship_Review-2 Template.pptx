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9" r:id="rId2"/>
    <p:sldId id="270" r:id="rId3"/>
    <p:sldId id="261" r:id="rId4"/>
    <p:sldId id="276" r:id="rId5"/>
    <p:sldId id="262" r:id="rId6"/>
    <p:sldId id="277" r:id="rId7"/>
    <p:sldId id="263" r:id="rId8"/>
    <p:sldId id="264" r:id="rId9"/>
    <p:sldId id="265" r:id="rId10"/>
    <p:sldId id="271" r:id="rId11"/>
    <p:sldId id="272" r:id="rId12"/>
    <p:sldId id="273" r:id="rId13"/>
    <p:sldId id="274" r:id="rId14"/>
    <p:sldId id="275" r:id="rId15"/>
    <p:sldId id="266" r:id="rId16"/>
    <p:sldId id="267" r:id="rId17"/>
    <p:sldId id="268" r:id="rId18"/>
    <p:sldId id="26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2BE31D-A805-4374-A802-C65F02E28BCD}" v="23" dt="2024-12-11T08:31:31.5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74" autoAdjust="0"/>
    <p:restoredTop sz="94660"/>
  </p:normalViewPr>
  <p:slideViewPr>
    <p:cSldViewPr snapToGrid="0">
      <p:cViewPr varScale="1">
        <p:scale>
          <a:sx n="49" d="100"/>
          <a:sy n="49" d="100"/>
        </p:scale>
        <p:origin x="91" y="9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/>
      <dgm:spPr/>
      <dgm:t>
        <a:bodyPr/>
        <a:lstStyle/>
        <a:p>
          <a:pPr>
            <a:buNone/>
          </a:pPr>
          <a:r>
            <a:rPr lang="en-IN" b="0" dirty="0"/>
            <a:t>REVIEW-1 (Weeks 1-4):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26A986D-69A4-4AC0-AD9B-462FFC9C3F18}" type="parTrans" cxnId="{AEE28BEF-3F73-41A5-9307-D42A450FCA17}">
      <dgm:prSet/>
      <dgm:spPr/>
      <dgm:t>
        <a:bodyPr/>
        <a:lstStyle/>
        <a:p>
          <a:endParaRPr lang="en-US"/>
        </a:p>
      </dgm:t>
    </dgm:pt>
    <dgm:pt modelId="{304E70AD-39C7-4C28-BF7B-6EE91BAE97B7}" type="sibTrans" cxnId="{AEE28BEF-3F73-41A5-9307-D42A450FCA17}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/>
        </a:p>
      </dgm:t>
    </dgm:pt>
    <dgm:pt modelId="{9FED87C4-3F3B-4A18-9185-9F80CFEDEA2E}">
      <dgm:prSet phldrT="[Text]"/>
      <dgm:spPr/>
      <dgm:t>
        <a:bodyPr/>
        <a:lstStyle/>
        <a:p>
          <a:pPr>
            <a:buNone/>
          </a:pPr>
          <a:r>
            <a:rPr lang="en-IN" b="0" dirty="0"/>
            <a:t>REVIEW-2 (Weeks 5-8):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69F5586-1E47-4A85-AA72-0E435BABD665}" type="parTrans" cxnId="{27611794-B6EF-4593-A560-02BF7692DC5A}">
      <dgm:prSet/>
      <dgm:spPr/>
      <dgm:t>
        <a:bodyPr/>
        <a:lstStyle/>
        <a:p>
          <a:endParaRPr lang="en-US"/>
        </a:p>
      </dgm:t>
    </dgm:pt>
    <dgm:pt modelId="{AD0D1882-5210-4A49-9875-4AAC43595580}" type="sibTrans" cxnId="{27611794-B6EF-4593-A560-02BF7692DC5A}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gm:t>
    </dgm:pt>
    <dgm:pt modelId="{0095C3CB-916F-4060-A8DA-DD282FB51587}" type="parTrans" cxnId="{D1BA1DD0-A52A-47BF-962D-9810C87E1576}">
      <dgm:prSet/>
      <dgm:spPr/>
      <dgm:t>
        <a:bodyPr/>
        <a:lstStyle/>
        <a:p>
          <a:endParaRPr lang="en-US"/>
        </a:p>
      </dgm:t>
    </dgm:pt>
    <dgm:pt modelId="{2868AD8D-4E38-46CE-A972-709857BF40AC}" type="sibTrans" cxnId="{D1BA1DD0-A52A-47BF-962D-9810C87E1576}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/>
      <dgm:spPr/>
      <dgm:t>
        <a:bodyPr/>
        <a:lstStyle/>
        <a:p>
          <a:pPr>
            <a:buNone/>
          </a:pPr>
          <a:r>
            <a:rPr lang="en-IN" b="0" dirty="0"/>
            <a:t>REVIEW-3 (Weeks 9-12):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5D01B62-D132-48B8-9D06-D0A551A21107}" type="parTrans" cxnId="{AA17007A-110D-43AE-B6F2-DF2DF885F2E2}">
      <dgm:prSet/>
      <dgm:spPr/>
      <dgm:t>
        <a:bodyPr/>
        <a:lstStyle/>
        <a:p>
          <a:endParaRPr lang="en-US"/>
        </a:p>
      </dgm:t>
    </dgm:pt>
    <dgm:pt modelId="{98BDB650-3386-4D3D-8E80-609010499291}" type="sibTrans" cxnId="{AA17007A-110D-43AE-B6F2-DF2DF885F2E2}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gm:t>
    </dgm:pt>
    <dgm:pt modelId="{765B1266-7CE2-4F9C-AE38-D97DFBC1B151}" type="parTrans" cxnId="{DA8CD5E8-B2EE-41E4-8EC6-CFB41D688F68}">
      <dgm:prSet/>
      <dgm:spPr/>
      <dgm:t>
        <a:bodyPr/>
        <a:lstStyle/>
        <a:p>
          <a:endParaRPr lang="en-US"/>
        </a:p>
      </dgm:t>
    </dgm:pt>
    <dgm:pt modelId="{5E9E6A6F-635A-4791-A107-01E95B62EA08}" type="sibTrans" cxnId="{DA8CD5E8-B2EE-41E4-8EC6-CFB41D688F68}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gm:t>
    </dgm:pt>
    <dgm:pt modelId="{C24738E5-1547-4D8D-A2CE-64D703ECDF78}" type="parTrans" cxnId="{521FD508-C5FD-4804-AFDC-D1FF9945B211}">
      <dgm:prSet/>
      <dgm:spPr/>
      <dgm:t>
        <a:bodyPr/>
        <a:lstStyle/>
        <a:p>
          <a:endParaRPr lang="en-US"/>
        </a:p>
      </dgm:t>
    </dgm:pt>
    <dgm:pt modelId="{196A2EB9-DD96-4630-B699-7AF000340374}" type="sibTrans" cxnId="{521FD508-C5FD-4804-AFDC-D1FF9945B211}">
      <dgm:prSet/>
      <dgm:spPr/>
      <dgm:t>
        <a:bodyPr/>
        <a:lstStyle/>
        <a:p>
          <a:endParaRPr lang="en-US"/>
        </a:p>
      </dgm:t>
    </dgm:pt>
    <dgm:pt modelId="{F8A6B156-8162-416A-8F90-C610C8FE9D08}">
      <dgm:prSet/>
      <dgm:spPr/>
      <dgm:t>
        <a:bodyPr/>
        <a:lstStyle/>
        <a:p>
          <a:pPr>
            <a:buNone/>
          </a:pPr>
          <a:r>
            <a:rPr lang="en-IN" b="0" dirty="0"/>
            <a:t>✓ Orientation &amp; requirement analysis</a:t>
          </a:r>
        </a:p>
      </dgm:t>
    </dgm:pt>
    <dgm:pt modelId="{71614727-69C9-4B10-9633-B5729724C423}" type="parTrans" cxnId="{57E91ACC-B76A-4A2A-B470-58C67044BCF0}">
      <dgm:prSet/>
      <dgm:spPr/>
      <dgm:t>
        <a:bodyPr/>
        <a:lstStyle/>
        <a:p>
          <a:endParaRPr lang="en-IN"/>
        </a:p>
      </dgm:t>
    </dgm:pt>
    <dgm:pt modelId="{00783C49-1D36-47D5-ACC4-D1C336CCF834}" type="sibTrans" cxnId="{57E91ACC-B76A-4A2A-B470-58C67044BCF0}">
      <dgm:prSet/>
      <dgm:spPr/>
      <dgm:t>
        <a:bodyPr/>
        <a:lstStyle/>
        <a:p>
          <a:endParaRPr lang="en-IN"/>
        </a:p>
      </dgm:t>
    </dgm:pt>
    <dgm:pt modelId="{869696E8-EDBD-4375-81A1-8611EAE61C00}">
      <dgm:prSet/>
      <dgm:spPr/>
      <dgm:t>
        <a:bodyPr/>
        <a:lstStyle/>
        <a:p>
          <a:pPr>
            <a:buNone/>
          </a:pPr>
          <a:r>
            <a:rPr lang="en-IN" b="0" dirty="0"/>
            <a:t>✓ Microsoft Intune tool Learning</a:t>
          </a:r>
        </a:p>
      </dgm:t>
    </dgm:pt>
    <dgm:pt modelId="{81398F84-D359-4D08-8BB1-54A9D0FE99CD}" type="parTrans" cxnId="{549009CF-328A-40E4-B83D-93739CC0E7BE}">
      <dgm:prSet/>
      <dgm:spPr/>
      <dgm:t>
        <a:bodyPr/>
        <a:lstStyle/>
        <a:p>
          <a:endParaRPr lang="en-IN"/>
        </a:p>
      </dgm:t>
    </dgm:pt>
    <dgm:pt modelId="{D7018C83-8F41-485E-8501-E40B22BE631E}" type="sibTrans" cxnId="{549009CF-328A-40E4-B83D-93739CC0E7BE}">
      <dgm:prSet/>
      <dgm:spPr/>
      <dgm:t>
        <a:bodyPr/>
        <a:lstStyle/>
        <a:p>
          <a:endParaRPr lang="en-IN"/>
        </a:p>
      </dgm:t>
    </dgm:pt>
    <dgm:pt modelId="{1585F75B-7943-4B08-93C4-4DA6CBA27A16}">
      <dgm:prSet/>
      <dgm:spPr/>
      <dgm:t>
        <a:bodyPr/>
        <a:lstStyle/>
        <a:p>
          <a:pPr>
            <a:buNone/>
          </a:pPr>
          <a:r>
            <a:rPr lang="en-IN" b="0" dirty="0"/>
            <a:t>✓ </a:t>
          </a:r>
          <a:r>
            <a:rPr lang="en-IN" b="0" dirty="0" err="1"/>
            <a:t>Winpak</a:t>
          </a:r>
          <a:r>
            <a:rPr lang="en-IN" b="0" dirty="0"/>
            <a:t> Honeywell Learning</a:t>
          </a:r>
        </a:p>
      </dgm:t>
    </dgm:pt>
    <dgm:pt modelId="{915E0793-7164-41B9-B661-476C098F10D2}" type="parTrans" cxnId="{1BF3E7A2-6AF3-40AD-A2A5-998FE2D642E9}">
      <dgm:prSet/>
      <dgm:spPr/>
      <dgm:t>
        <a:bodyPr/>
        <a:lstStyle/>
        <a:p>
          <a:endParaRPr lang="en-IN"/>
        </a:p>
      </dgm:t>
    </dgm:pt>
    <dgm:pt modelId="{2A79A735-89D3-4C42-A031-9F56E6EA949F}" type="sibTrans" cxnId="{1BF3E7A2-6AF3-40AD-A2A5-998FE2D642E9}">
      <dgm:prSet/>
      <dgm:spPr/>
      <dgm:t>
        <a:bodyPr/>
        <a:lstStyle/>
        <a:p>
          <a:endParaRPr lang="en-IN"/>
        </a:p>
      </dgm:t>
    </dgm:pt>
    <dgm:pt modelId="{5E7E6FCB-A887-46C1-A788-DA881003AE44}">
      <dgm:prSet/>
      <dgm:spPr/>
      <dgm:t>
        <a:bodyPr/>
        <a:lstStyle/>
        <a:p>
          <a:pPr>
            <a:buNone/>
          </a:pPr>
          <a:r>
            <a:rPr lang="en-IN" b="0" dirty="0"/>
            <a:t>✓ Graph API Testing</a:t>
          </a:r>
        </a:p>
      </dgm:t>
    </dgm:pt>
    <dgm:pt modelId="{A5057606-8C8A-47BD-BD2F-4A15E100A3D7}" type="parTrans" cxnId="{94F8ED4D-1B1B-4096-A7A7-8FEF7859361D}">
      <dgm:prSet/>
      <dgm:spPr/>
      <dgm:t>
        <a:bodyPr/>
        <a:lstStyle/>
        <a:p>
          <a:endParaRPr lang="en-IN"/>
        </a:p>
      </dgm:t>
    </dgm:pt>
    <dgm:pt modelId="{42220688-9A13-44A3-8821-9BD2A53F7025}" type="sibTrans" cxnId="{94F8ED4D-1B1B-4096-A7A7-8FEF7859361D}">
      <dgm:prSet/>
      <dgm:spPr/>
      <dgm:t>
        <a:bodyPr/>
        <a:lstStyle/>
        <a:p>
          <a:endParaRPr lang="en-IN"/>
        </a:p>
      </dgm:t>
    </dgm:pt>
    <dgm:pt modelId="{E78EB800-61D6-48CE-83DB-665AC6E304CD}">
      <dgm:prSet/>
      <dgm:spPr/>
      <dgm:t>
        <a:bodyPr/>
        <a:lstStyle/>
        <a:p>
          <a:pPr>
            <a:buNone/>
          </a:pPr>
          <a:r>
            <a:rPr lang="en-IN" b="0" dirty="0"/>
            <a:t>✓ Testing setup</a:t>
          </a:r>
        </a:p>
      </dgm:t>
    </dgm:pt>
    <dgm:pt modelId="{2136F7ED-A81B-4153-BF7D-D2795784A797}" type="parTrans" cxnId="{BE5CFBF9-1F80-47E4-BEFC-349F3931EACA}">
      <dgm:prSet/>
      <dgm:spPr/>
      <dgm:t>
        <a:bodyPr/>
        <a:lstStyle/>
        <a:p>
          <a:endParaRPr lang="en-IN"/>
        </a:p>
      </dgm:t>
    </dgm:pt>
    <dgm:pt modelId="{EC09FC49-92DB-4A37-AF62-69BBB1F0C066}" type="sibTrans" cxnId="{BE5CFBF9-1F80-47E4-BEFC-349F3931EACA}">
      <dgm:prSet/>
      <dgm:spPr/>
      <dgm:t>
        <a:bodyPr/>
        <a:lstStyle/>
        <a:p>
          <a:endParaRPr lang="en-IN"/>
        </a:p>
      </dgm:t>
    </dgm:pt>
    <dgm:pt modelId="{00C9FDF2-6659-4C96-B7BE-3F77816D56FE}">
      <dgm:prSet/>
      <dgm:spPr/>
      <dgm:t>
        <a:bodyPr/>
        <a:lstStyle/>
        <a:p>
          <a:pPr>
            <a:buNone/>
          </a:pPr>
          <a:r>
            <a:rPr lang="en-IN" b="0" dirty="0"/>
            <a:t>✓Complete Device Enrolled</a:t>
          </a:r>
        </a:p>
      </dgm:t>
    </dgm:pt>
    <dgm:pt modelId="{FD4B8218-751A-4031-B24B-8A4B6F7AC869}" type="parTrans" cxnId="{E8EEE564-DE30-4FD1-A926-167F9E235B82}">
      <dgm:prSet/>
      <dgm:spPr/>
      <dgm:t>
        <a:bodyPr/>
        <a:lstStyle/>
        <a:p>
          <a:endParaRPr lang="en-IN"/>
        </a:p>
      </dgm:t>
    </dgm:pt>
    <dgm:pt modelId="{0B3C5211-C37F-48F5-B6A2-D85EE17DB0B1}" type="sibTrans" cxnId="{E8EEE564-DE30-4FD1-A926-167F9E235B82}">
      <dgm:prSet/>
      <dgm:spPr/>
      <dgm:t>
        <a:bodyPr/>
        <a:lstStyle/>
        <a:p>
          <a:endParaRPr lang="en-IN"/>
        </a:p>
      </dgm:t>
    </dgm:pt>
    <dgm:pt modelId="{E34C5132-4594-413C-BBF9-EE9D05F1CD18}">
      <dgm:prSet/>
      <dgm:spPr/>
      <dgm:t>
        <a:bodyPr/>
        <a:lstStyle/>
        <a:p>
          <a:pPr>
            <a:buNone/>
          </a:pPr>
          <a:r>
            <a:rPr lang="en-IN" b="0" dirty="0"/>
            <a:t>✓Security assessment</a:t>
          </a:r>
        </a:p>
      </dgm:t>
    </dgm:pt>
    <dgm:pt modelId="{12F3BADC-7454-4ECF-BFBA-34D1854AEBB7}" type="parTrans" cxnId="{55C2B021-4CE2-464D-922E-F0BEDA4AD1D2}">
      <dgm:prSet/>
      <dgm:spPr/>
      <dgm:t>
        <a:bodyPr/>
        <a:lstStyle/>
        <a:p>
          <a:endParaRPr lang="en-IN"/>
        </a:p>
      </dgm:t>
    </dgm:pt>
    <dgm:pt modelId="{AD7331FD-7002-4DA8-8BE1-BF92C5468E01}" type="sibTrans" cxnId="{55C2B021-4CE2-464D-922E-F0BEDA4AD1D2}">
      <dgm:prSet/>
      <dgm:spPr/>
      <dgm:t>
        <a:bodyPr/>
        <a:lstStyle/>
        <a:p>
          <a:endParaRPr lang="en-IN"/>
        </a:p>
      </dgm:t>
    </dgm:pt>
    <dgm:pt modelId="{4F4FEC9E-DBE1-4892-9A8B-2725D626A280}">
      <dgm:prSet/>
      <dgm:spPr/>
      <dgm:t>
        <a:bodyPr/>
        <a:lstStyle/>
        <a:p>
          <a:pPr>
            <a:buNone/>
          </a:pPr>
          <a:r>
            <a:rPr lang="en-IN" b="0" dirty="0"/>
            <a:t>✓User testing</a:t>
          </a:r>
        </a:p>
      </dgm:t>
    </dgm:pt>
    <dgm:pt modelId="{B4C3735B-0400-4B5D-9A5E-2AA1F054F259}" type="parTrans" cxnId="{65740BC2-D182-4DEF-8631-C2ABF3E2850B}">
      <dgm:prSet/>
      <dgm:spPr/>
      <dgm:t>
        <a:bodyPr/>
        <a:lstStyle/>
        <a:p>
          <a:endParaRPr lang="en-IN"/>
        </a:p>
      </dgm:t>
    </dgm:pt>
    <dgm:pt modelId="{A8B5B095-7CC2-4388-88B7-294197AB7692}" type="sibTrans" cxnId="{65740BC2-D182-4DEF-8631-C2ABF3E2850B}">
      <dgm:prSet/>
      <dgm:spPr/>
      <dgm:t>
        <a:bodyPr/>
        <a:lstStyle/>
        <a:p>
          <a:endParaRPr lang="en-IN"/>
        </a:p>
      </dgm:t>
    </dgm:pt>
    <dgm:pt modelId="{426CE804-FB35-45D3-A85F-A3F00A32A239}">
      <dgm:prSet/>
      <dgm:spPr/>
      <dgm:t>
        <a:bodyPr/>
        <a:lstStyle/>
        <a:p>
          <a:pPr>
            <a:buNone/>
          </a:pPr>
          <a:r>
            <a:rPr lang="en-IN" b="0" dirty="0"/>
            <a:t>✓Final handover</a:t>
          </a:r>
        </a:p>
      </dgm:t>
    </dgm:pt>
    <dgm:pt modelId="{3ACC0D3D-2A5A-4057-92C0-7F026D50DE52}" type="parTrans" cxnId="{AA58D5BD-EEAD-4522-9623-7720D9DA9E35}">
      <dgm:prSet/>
      <dgm:spPr/>
      <dgm:t>
        <a:bodyPr/>
        <a:lstStyle/>
        <a:p>
          <a:endParaRPr lang="en-IN"/>
        </a:p>
      </dgm:t>
    </dgm:pt>
    <dgm:pt modelId="{CA61C87B-CB4C-4DDE-AD55-EC48B3390406}" type="sibTrans" cxnId="{AA58D5BD-EEAD-4522-9623-7720D9DA9E35}">
      <dgm:prSet/>
      <dgm:spPr/>
      <dgm:t>
        <a:bodyPr/>
        <a:lstStyle/>
        <a:p>
          <a:endParaRPr lang="en-IN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0EA92EC0-9C6F-4663-B822-B1E8E3DCB13B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/>
      <dgm:spPr/>
    </dgm:pt>
    <dgm:pt modelId="{928B615F-0F8D-4140-A638-0FBB8F5BF1E9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73DE52A-2F45-45E6-AD0E-D5BEAF609F8E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</dgm:pt>
    <dgm:pt modelId="{EA3B7F60-AEEC-41A8-8A2C-D3679EFCD073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</dgm:pt>
    <dgm:pt modelId="{98225A61-A0EC-450A-BED8-EF2E47E8FD18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AAD338D-3122-4454-9A67-16BE024D44E3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</dgm:pt>
    <dgm:pt modelId="{96AFCF47-32CA-4C44-9E3C-782007B7112E}" type="pres">
      <dgm:prSet presAssocID="{A59EC69B-8F3F-425B-819F-E8C557946AEE}" presName="ChildAccent3" presStyleCnt="0"/>
      <dgm:spPr/>
    </dgm:pt>
    <dgm:pt modelId="{2532504F-5FE1-4C97-B485-F05E8885EACC}" type="pres">
      <dgm:prSet presAssocID="{A59EC69B-8F3F-425B-819F-E8C557946AEE}" presName="ChildAccent" presStyleLbl="alignImgPlace1" presStyleIdx="2" presStyleCnt="5"/>
      <dgm:spPr/>
    </dgm:pt>
    <dgm:pt modelId="{0D08ED52-6744-4369-B780-916B09984775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C66D42D-7E6D-4563-AFDC-369C30B73F70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</dgm:pt>
    <dgm:pt modelId="{C1269CE6-C767-48CC-AAFD-A238D1FFDABA}" type="pres">
      <dgm:prSet presAssocID="{7B3055AA-BF7C-46D0-9A9E-60087B9F57B4}" presName="ChildAccent2" presStyleCnt="0"/>
      <dgm:spPr/>
    </dgm:pt>
    <dgm:pt modelId="{06F8D57B-EDF4-4CF4-8700-DC2CA3E3028E}" type="pres">
      <dgm:prSet presAssocID="{7B3055AA-BF7C-46D0-9A9E-60087B9F57B4}" presName="ChildAccent" presStyleLbl="alignImgPlace1" presStyleIdx="3" presStyleCnt="5"/>
      <dgm:spPr/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0BB3360-A9BB-4051-A4B1-1216F82F642C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</dgm:pt>
    <dgm:pt modelId="{7305DF14-0FF5-45E4-8B19-015814092DBD}" type="pres">
      <dgm:prSet presAssocID="{988D96B0-D16E-4763-B393-84178CF4FF50}" presName="ChildAccent1" presStyleCnt="0"/>
      <dgm:spPr/>
    </dgm:pt>
    <dgm:pt modelId="{A134CDD1-D85F-44EF-8BEE-9F99A855C1E6}" type="pres">
      <dgm:prSet presAssocID="{988D96B0-D16E-4763-B393-84178CF4FF50}" presName="ChildAccent" presStyleLbl="alignImgPlace1" presStyleIdx="4" presStyleCnt="5"/>
      <dgm:spPr/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</dgm:pt>
  </dgm:ptLst>
  <dgm:cxnLst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54948403-3959-4A2A-9994-F281A75771D1}" type="presOf" srcId="{1585F75B-7943-4B08-93C4-4DA6CBA27A16}" destId="{06F8D57B-EDF4-4CF4-8700-DC2CA3E3028E}" srcOrd="0" destOrd="1" presId="urn:microsoft.com/office/officeart/2011/layout/InterconnectedBlockProcess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E94CD512-E47E-4B2A-8B42-1BBD0CE921B4}" type="presOf" srcId="{D471E45F-B026-44AA-9616-57E786AE80AF}" destId="{A134CDD1-D85F-44EF-8BEE-9F99A855C1E6}" srcOrd="0" destOrd="0" presId="urn:microsoft.com/office/officeart/2011/layout/InterconnectedBlockProcess"/>
    <dgm:cxn modelId="{DCBBD912-689F-4398-945B-50D7C906D480}" type="presOf" srcId="{65C051F6-A849-4495-A964-CD4C650B9C06}" destId="{C73DE52A-2F45-45E6-AD0E-D5BEAF609F8E}" srcOrd="0" destOrd="0" presId="urn:microsoft.com/office/officeart/2011/layout/InterconnectedBlockProcess"/>
    <dgm:cxn modelId="{A6532C16-AFEE-4EEA-891E-F5DAB7412E13}" type="presOf" srcId="{73DB572E-062D-41AD-8033-D361B8E583DB}" destId="{2532504F-5FE1-4C97-B485-F05E8885EACC}" srcOrd="0" destOrd="0" presId="urn:microsoft.com/office/officeart/2011/layout/InterconnectedBlockProcess"/>
    <dgm:cxn modelId="{7E4E8119-41A6-4944-8668-F60446CDD9E3}" type="presOf" srcId="{5E7E6FCB-A887-46C1-A788-DA881003AE44}" destId="{6BCCFBA6-7A43-4631-AD7F-AFB10E1E6CD7}" srcOrd="1" destOrd="2" presId="urn:microsoft.com/office/officeart/2011/layout/InterconnectedBlockProcess"/>
    <dgm:cxn modelId="{B5DD9B1F-10B3-46C5-95D2-1DA81EFDC8DC}" type="presOf" srcId="{E34C5132-4594-413C-BBF9-EE9D05F1CD18}" destId="{0D08ED52-6744-4369-B780-916B09984775}" srcOrd="1" destOrd="2" presId="urn:microsoft.com/office/officeart/2011/layout/InterconnectedBlockProcess"/>
    <dgm:cxn modelId="{14271021-8784-4688-96FE-21B4F9A3C855}" type="presOf" srcId="{A59EC69B-8F3F-425B-819F-E8C557946AEE}" destId="{4C66D42D-7E6D-4563-AFDC-369C30B73F70}" srcOrd="0" destOrd="0" presId="urn:microsoft.com/office/officeart/2011/layout/InterconnectedBlockProcess"/>
    <dgm:cxn modelId="{55C2B021-4CE2-464D-922E-F0BEDA4AD1D2}" srcId="{A59EC69B-8F3F-425B-819F-E8C557946AEE}" destId="{E34C5132-4594-413C-BBF9-EE9D05F1CD18}" srcOrd="2" destOrd="0" parTransId="{12F3BADC-7454-4ECF-BFBA-34D1854AEBB7}" sibTransId="{AD7331FD-7002-4DA8-8BE1-BF92C5468E01}"/>
    <dgm:cxn modelId="{9B01BC3D-64E0-44C8-BD79-E13DB45FD0E9}" type="presOf" srcId="{E78EB800-61D6-48CE-83DB-665AC6E304CD}" destId="{6BCCFBA6-7A43-4631-AD7F-AFB10E1E6CD7}" srcOrd="1" destOrd="3" presId="urn:microsoft.com/office/officeart/2011/layout/InterconnectedBlockProcess"/>
    <dgm:cxn modelId="{67ED7E3E-C443-4C61-8009-BB71B9DD9B67}" type="presOf" srcId="{426CE804-FB35-45D3-A85F-A3F00A32A239}" destId="{0D08ED52-6744-4369-B780-916B09984775}" srcOrd="1" destOrd="4" presId="urn:microsoft.com/office/officeart/2011/layout/InterconnectedBlockProcess"/>
    <dgm:cxn modelId="{BD4D063F-4481-4272-86B1-D2EA110CC162}" type="presOf" srcId="{73DB572E-062D-41AD-8033-D361B8E583DB}" destId="{0D08ED52-6744-4369-B780-916B09984775}" srcOrd="1" destOrd="0" presId="urn:microsoft.com/office/officeart/2011/layout/InterconnectedBlockProcess"/>
    <dgm:cxn modelId="{EDB0D960-D065-4309-8BF4-1103EBF7A1BC}" type="presOf" srcId="{4F4FEC9E-DBE1-4892-9A8B-2725D626A280}" destId="{2532504F-5FE1-4C97-B485-F05E8885EACC}" srcOrd="0" destOrd="3" presId="urn:microsoft.com/office/officeart/2011/layout/InterconnectedBlockProcess"/>
    <dgm:cxn modelId="{E8EEE564-DE30-4FD1-A926-167F9E235B82}" srcId="{A59EC69B-8F3F-425B-819F-E8C557946AEE}" destId="{00C9FDF2-6659-4C96-B7BE-3F77816D56FE}" srcOrd="1" destOrd="0" parTransId="{FD4B8218-751A-4031-B24B-8A4B6F7AC869}" sibTransId="{0B3C5211-C37F-48F5-B6A2-D85EE17DB0B1}"/>
    <dgm:cxn modelId="{C525854A-C906-4022-81C3-54872152F633}" type="presOf" srcId="{E34C5132-4594-413C-BBF9-EE9D05F1CD18}" destId="{2532504F-5FE1-4C97-B485-F05E8885EACC}" srcOrd="0" destOrd="2" presId="urn:microsoft.com/office/officeart/2011/layout/InterconnectedBlockProcess"/>
    <dgm:cxn modelId="{F984484C-0478-44F9-8B73-136E0A30059D}" type="presOf" srcId="{5E7E6FCB-A887-46C1-A788-DA881003AE44}" destId="{06F8D57B-EDF4-4CF4-8700-DC2CA3E3028E}" srcOrd="0" destOrd="2" presId="urn:microsoft.com/office/officeart/2011/layout/InterconnectedBlockProcess"/>
    <dgm:cxn modelId="{5BC6E16C-941D-45B1-B3AA-03403B10D235}" type="presOf" srcId="{00C9FDF2-6659-4C96-B7BE-3F77816D56FE}" destId="{2532504F-5FE1-4C97-B485-F05E8885EACC}" srcOrd="0" destOrd="1" presId="urn:microsoft.com/office/officeart/2011/layout/InterconnectedBlockProcess"/>
    <dgm:cxn modelId="{7939C46D-7736-4998-AF1D-C867C4C6833A}" type="presOf" srcId="{4F4FEC9E-DBE1-4892-9A8B-2725D626A280}" destId="{0D08ED52-6744-4369-B780-916B09984775}" srcOrd="1" destOrd="3" presId="urn:microsoft.com/office/officeart/2011/layout/InterconnectedBlockProcess"/>
    <dgm:cxn modelId="{94F8ED4D-1B1B-4096-A7A7-8FEF7859361D}" srcId="{7B3055AA-BF7C-46D0-9A9E-60087B9F57B4}" destId="{5E7E6FCB-A887-46C1-A788-DA881003AE44}" srcOrd="2" destOrd="0" parTransId="{A5057606-8C8A-47BD-BD2F-4A15E100A3D7}" sibTransId="{42220688-9A13-44A3-8821-9BD2A53F7025}"/>
    <dgm:cxn modelId="{A3CCA86E-E9EB-4C36-95CF-C40E377665DD}" type="presOf" srcId="{869696E8-EDBD-4375-81A1-8611EAE61C00}" destId="{A134CDD1-D85F-44EF-8BEE-9F99A855C1E6}" srcOrd="0" destOrd="2" presId="urn:microsoft.com/office/officeart/2011/layout/InterconnectedBlockProcess"/>
    <dgm:cxn modelId="{D39DCD4E-2ACF-423E-AB80-A823E0B11413}" type="presOf" srcId="{869696E8-EDBD-4375-81A1-8611EAE61C00}" destId="{1C91D7E3-8940-4A33-9182-677DD5415901}" srcOrd="1" destOrd="2" presId="urn:microsoft.com/office/officeart/2011/layout/InterconnectedBlockProcess"/>
    <dgm:cxn modelId="{58E76652-C24F-44B0-96A9-DDF4DA4C870A}" type="presOf" srcId="{7B3055AA-BF7C-46D0-9A9E-60087B9F57B4}" destId="{00BB3360-A9BB-4051-A4B1-1216F82F642C}" srcOrd="0" destOrd="0" presId="urn:microsoft.com/office/officeart/2011/layout/InterconnectedBlockProcess"/>
    <dgm:cxn modelId="{D6204377-C5C6-4761-A328-03F6FC916783}" type="presOf" srcId="{426CE804-FB35-45D3-A85F-A3F00A32A239}" destId="{2532504F-5FE1-4C97-B485-F05E8885EACC}" srcOrd="0" destOrd="4" presId="urn:microsoft.com/office/officeart/2011/layout/InterconnectedBlockProcess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5C3C918A-4C4A-4DEB-924A-CC330C09FB27}" type="presOf" srcId="{5E92505A-51E0-4F78-B3C5-704ACF8710DE}" destId="{2AAD338D-3122-4454-9A67-16BE024D44E3}" srcOrd="0" destOrd="0" presId="urn:microsoft.com/office/officeart/2011/layout/InterconnectedBlockProcess"/>
    <dgm:cxn modelId="{0BA87491-5FC7-4B85-BA56-90EA0D899C0D}" type="presOf" srcId="{F8A6B156-8162-416A-8F90-C610C8FE9D08}" destId="{A134CDD1-D85F-44EF-8BEE-9F99A855C1E6}" srcOrd="0" destOrd="1" presId="urn:microsoft.com/office/officeart/2011/layout/InterconnectedBlockProcess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71E76F96-76B8-4FC9-A702-235693FC7C1B}" type="presOf" srcId="{00C9FDF2-6659-4C96-B7BE-3F77816D56FE}" destId="{0D08ED52-6744-4369-B780-916B09984775}" srcOrd="1" destOrd="1" presId="urn:microsoft.com/office/officeart/2011/layout/InterconnectedBlockProcess"/>
    <dgm:cxn modelId="{FCA36798-B6F9-4782-9D63-F5772C3A9144}" type="presOf" srcId="{F8A6B156-8162-416A-8F90-C610C8FE9D08}" destId="{1C91D7E3-8940-4A33-9182-677DD5415901}" srcOrd="1" destOrd="1" presId="urn:microsoft.com/office/officeart/2011/layout/InterconnectedBlockProcess"/>
    <dgm:cxn modelId="{940B4C9B-D5E4-4E48-A872-B455F86EA2F7}" type="presOf" srcId="{D471E45F-B026-44AA-9616-57E786AE80AF}" destId="{1C91D7E3-8940-4A33-9182-677DD5415901}" srcOrd="1" destOrd="0" presId="urn:microsoft.com/office/officeart/2011/layout/InterconnectedBlockProcess"/>
    <dgm:cxn modelId="{25C83D9F-B12A-43EF-8599-6589093E1A69}" type="presOf" srcId="{9FED87C4-3F3B-4A18-9185-9F80CFEDEA2E}" destId="{06F8D57B-EDF4-4CF4-8700-DC2CA3E3028E}" srcOrd="0" destOrd="0" presId="urn:microsoft.com/office/officeart/2011/layout/InterconnectedBlockProcess"/>
    <dgm:cxn modelId="{1BF3E7A2-6AF3-40AD-A2A5-998FE2D642E9}" srcId="{7B3055AA-BF7C-46D0-9A9E-60087B9F57B4}" destId="{1585F75B-7943-4B08-93C4-4DA6CBA27A16}" srcOrd="1" destOrd="0" parTransId="{915E0793-7164-41B9-B661-476C098F10D2}" sibTransId="{2A79A735-89D3-4C42-A031-9F56E6EA949F}"/>
    <dgm:cxn modelId="{AD0A74B8-550A-4F0D-9A26-ADB7CD7A34B7}" type="presOf" srcId="{988D96B0-D16E-4763-B393-84178CF4FF50}" destId="{65257024-FAC0-4522-B139-1CC85B547BE8}" srcOrd="0" destOrd="0" presId="urn:microsoft.com/office/officeart/2011/layout/InterconnectedBlockProcess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AA58D5BD-EEAD-4522-9623-7720D9DA9E35}" srcId="{A59EC69B-8F3F-425B-819F-E8C557946AEE}" destId="{426CE804-FB35-45D3-A85F-A3F00A32A239}" srcOrd="4" destOrd="0" parTransId="{3ACC0D3D-2A5A-4057-92C0-7F026D50DE52}" sibTransId="{CA61C87B-CB4C-4DDE-AD55-EC48B3390406}"/>
    <dgm:cxn modelId="{65740BC2-D182-4DEF-8631-C2ABF3E2850B}" srcId="{A59EC69B-8F3F-425B-819F-E8C557946AEE}" destId="{4F4FEC9E-DBE1-4892-9A8B-2725D626A280}" srcOrd="3" destOrd="0" parTransId="{B4C3735B-0400-4B5D-9A5E-2AA1F054F259}" sibTransId="{A8B5B095-7CC2-4388-88B7-294197AB7692}"/>
    <dgm:cxn modelId="{57E91ACC-B76A-4A2A-B470-58C67044BCF0}" srcId="{988D96B0-D16E-4763-B393-84178CF4FF50}" destId="{F8A6B156-8162-416A-8F90-C610C8FE9D08}" srcOrd="1" destOrd="0" parTransId="{71614727-69C9-4B10-9633-B5729724C423}" sibTransId="{00783C49-1D36-47D5-ACC4-D1C336CCF834}"/>
    <dgm:cxn modelId="{549009CF-328A-40E4-B83D-93739CC0E7BE}" srcId="{988D96B0-D16E-4763-B393-84178CF4FF50}" destId="{869696E8-EDBD-4375-81A1-8611EAE61C00}" srcOrd="2" destOrd="0" parTransId="{81398F84-D359-4D08-8BB1-54A9D0FE99CD}" sibTransId="{D7018C83-8F41-485E-8501-E40B22BE631E}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5E9A98D5-8FE6-4C0D-AE47-F56CDC619232}" type="presOf" srcId="{E78EB800-61D6-48CE-83DB-665AC6E304CD}" destId="{06F8D57B-EDF4-4CF4-8700-DC2CA3E3028E}" srcOrd="0" destOrd="3" presId="urn:microsoft.com/office/officeart/2011/layout/InterconnectedBlockProcess"/>
    <dgm:cxn modelId="{D95A05E5-1205-4AD1-9AA3-74CA7A4B9EF2}" type="presOf" srcId="{9FED87C4-3F3B-4A18-9185-9F80CFEDEA2E}" destId="{6BCCFBA6-7A43-4631-AD7F-AFB10E1E6CD7}" srcOrd="1" destOrd="0" presId="urn:microsoft.com/office/officeart/2011/layout/InterconnectedBlockProcess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2B26BCF2-F72A-4E67-BA07-134526A3C489}" type="presOf" srcId="{1585F75B-7943-4B08-93C4-4DA6CBA27A16}" destId="{6BCCFBA6-7A43-4631-AD7F-AFB10E1E6CD7}" srcOrd="1" destOrd="1" presId="urn:microsoft.com/office/officeart/2011/layout/InterconnectedBlockProcess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BE5CFBF9-1F80-47E4-BEFC-349F3931EACA}" srcId="{7B3055AA-BF7C-46D0-9A9E-60087B9F57B4}" destId="{E78EB800-61D6-48CE-83DB-665AC6E304CD}" srcOrd="3" destOrd="0" parTransId="{2136F7ED-A81B-4153-BF7D-D2795784A797}" sibTransId="{EC09FC49-92DB-4A37-AF62-69BBB1F0C066}"/>
    <dgm:cxn modelId="{BA3911EC-283D-4FE0-BD2A-4C3459371EE9}" type="presParOf" srcId="{A6BCDA7B-D633-438F-B44D-CB4D60E5C492}" destId="{0EA92EC0-9C6F-4663-B822-B1E8E3DCB13B}" srcOrd="0" destOrd="0" presId="urn:microsoft.com/office/officeart/2011/layout/InterconnectedBlockProcess"/>
    <dgm:cxn modelId="{1EDBEF38-7069-4A80-88A4-D49C02CAA5E4}" type="presParOf" srcId="{0EA92EC0-9C6F-4663-B822-B1E8E3DCB13B}" destId="{8CAE5A4D-0C7B-48A6-917B-0B8433D0574B}" srcOrd="0" destOrd="0" presId="urn:microsoft.com/office/officeart/2011/layout/InterconnectedBlockProcess"/>
    <dgm:cxn modelId="{FD95BC11-BC93-47BA-B283-371C099AF1AD}" type="presParOf" srcId="{A6BCDA7B-D633-438F-B44D-CB4D60E5C492}" destId="{928B615F-0F8D-4140-A638-0FBB8F5BF1E9}" srcOrd="1" destOrd="0" presId="urn:microsoft.com/office/officeart/2011/layout/InterconnectedBlockProcess"/>
    <dgm:cxn modelId="{A02166CE-2B20-436D-AF28-8342A22134F7}" type="presParOf" srcId="{A6BCDA7B-D633-438F-B44D-CB4D60E5C492}" destId="{C73DE52A-2F45-45E6-AD0E-D5BEAF609F8E}" srcOrd="2" destOrd="0" presId="urn:microsoft.com/office/officeart/2011/layout/InterconnectedBlockProcess"/>
    <dgm:cxn modelId="{EF68827D-5F4A-488B-9569-C6B84C6E22B2}" type="presParOf" srcId="{A6BCDA7B-D633-438F-B44D-CB4D60E5C492}" destId="{EA3B7F60-AEEC-41A8-8A2C-D3679EFCD073}" srcOrd="3" destOrd="0" presId="urn:microsoft.com/office/officeart/2011/layout/InterconnectedBlockProcess"/>
    <dgm:cxn modelId="{AA6818F2-EB06-4F0B-AB64-08A61B86B1F5}" type="presParOf" srcId="{EA3B7F60-AEEC-41A8-8A2C-D3679EFCD073}" destId="{FC0F1314-3294-4A8C-8DCE-EB53E236164C}" srcOrd="0" destOrd="0" presId="urn:microsoft.com/office/officeart/2011/layout/InterconnectedBlockProcess"/>
    <dgm:cxn modelId="{515B5789-A9FD-48CC-AEC5-3887D1DCB166}" type="presParOf" srcId="{A6BCDA7B-D633-438F-B44D-CB4D60E5C492}" destId="{98225A61-A0EC-450A-BED8-EF2E47E8FD18}" srcOrd="4" destOrd="0" presId="urn:microsoft.com/office/officeart/2011/layout/InterconnectedBlockProcess"/>
    <dgm:cxn modelId="{EC041B1B-950E-47B0-AC02-75FE785BC810}" type="presParOf" srcId="{A6BCDA7B-D633-438F-B44D-CB4D60E5C492}" destId="{2AAD338D-3122-4454-9A67-16BE024D44E3}" srcOrd="5" destOrd="0" presId="urn:microsoft.com/office/officeart/2011/layout/InterconnectedBlockProcess"/>
    <dgm:cxn modelId="{3432AE63-9FD1-4BC7-9DEF-3B96DC1D18B6}" type="presParOf" srcId="{A6BCDA7B-D633-438F-B44D-CB4D60E5C492}" destId="{96AFCF47-32CA-4C44-9E3C-782007B7112E}" srcOrd="6" destOrd="0" presId="urn:microsoft.com/office/officeart/2011/layout/InterconnectedBlockProcess"/>
    <dgm:cxn modelId="{923E99A6-341B-451C-8867-E92FC25AC53B}" type="presParOf" srcId="{96AFCF47-32CA-4C44-9E3C-782007B7112E}" destId="{2532504F-5FE1-4C97-B485-F05E8885EACC}" srcOrd="0" destOrd="0" presId="urn:microsoft.com/office/officeart/2011/layout/InterconnectedBlockProcess"/>
    <dgm:cxn modelId="{D722F7D5-C052-4884-8CB8-8D1A48BD812B}" type="presParOf" srcId="{A6BCDA7B-D633-438F-B44D-CB4D60E5C492}" destId="{0D08ED52-6744-4369-B780-916B09984775}" srcOrd="7" destOrd="0" presId="urn:microsoft.com/office/officeart/2011/layout/InterconnectedBlockProcess"/>
    <dgm:cxn modelId="{3AD2F176-129A-4447-ADA9-E3E89DF9D891}" type="presParOf" srcId="{A6BCDA7B-D633-438F-B44D-CB4D60E5C492}" destId="{4C66D42D-7E6D-4563-AFDC-369C30B73F70}" srcOrd="8" destOrd="0" presId="urn:microsoft.com/office/officeart/2011/layout/InterconnectedBlockProcess"/>
    <dgm:cxn modelId="{D208DA9D-BE25-4BF1-B0BD-F2F14E865E97}" type="presParOf" srcId="{A6BCDA7B-D633-438F-B44D-CB4D60E5C492}" destId="{C1269CE6-C767-48CC-AAFD-A238D1FFDABA}" srcOrd="9" destOrd="0" presId="urn:microsoft.com/office/officeart/2011/layout/InterconnectedBlockProcess"/>
    <dgm:cxn modelId="{2AC68A3D-1C33-40F1-A5CE-D5AFE03E40CC}" type="presParOf" srcId="{C1269CE6-C767-48CC-AAFD-A238D1FFDABA}" destId="{06F8D57B-EDF4-4CF4-8700-DC2CA3E3028E}" srcOrd="0" destOrd="0" presId="urn:microsoft.com/office/officeart/2011/layout/InterconnectedBlockProcess"/>
    <dgm:cxn modelId="{1AC84B5C-9F91-4220-9E7F-5BE6D44EABB4}" type="presParOf" srcId="{A6BCDA7B-D633-438F-B44D-CB4D60E5C492}" destId="{6BCCFBA6-7A43-4631-AD7F-AFB10E1E6CD7}" srcOrd="10" destOrd="0" presId="urn:microsoft.com/office/officeart/2011/layout/InterconnectedBlockProcess"/>
    <dgm:cxn modelId="{4D501E81-798D-4E10-9739-3749808FDBE7}" type="presParOf" srcId="{A6BCDA7B-D633-438F-B44D-CB4D60E5C492}" destId="{00BB3360-A9BB-4051-A4B1-1216F82F642C}" srcOrd="11" destOrd="0" presId="urn:microsoft.com/office/officeart/2011/layout/InterconnectedBlockProcess"/>
    <dgm:cxn modelId="{61C4626E-22F6-45E2-856C-8C7D72EEE8E3}" type="presParOf" srcId="{A6BCDA7B-D633-438F-B44D-CB4D60E5C492}" destId="{7305DF14-0FF5-45E4-8B19-015814092DBD}" srcOrd="12" destOrd="0" presId="urn:microsoft.com/office/officeart/2011/layout/InterconnectedBlockProcess"/>
    <dgm:cxn modelId="{40E047E4-8B96-4BE3-A685-38A19A4860FE}" type="presParOf" srcId="{7305DF14-0FF5-45E4-8B19-015814092DBD}" destId="{A134CDD1-D85F-44EF-8BEE-9F99A855C1E6}" srcOrd="0" destOrd="0" presId="urn:microsoft.com/office/officeart/2011/layout/InterconnectedBlockProcess"/>
    <dgm:cxn modelId="{7D071F6A-A4AA-4BFF-AC77-DA71956DD8F9}" type="presParOf" srcId="{A6BCDA7B-D633-438F-B44D-CB4D60E5C492}" destId="{1C91D7E3-8940-4A33-9182-677DD5415901}" srcOrd="13" destOrd="0" presId="urn:microsoft.com/office/officeart/2011/layout/InterconnectedBlockProcess"/>
    <dgm:cxn modelId="{189850BB-B69B-4D35-82C0-6BC106290228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E5A4D-0C7B-48A6-917B-0B8433D0574B}">
      <dsp:nvSpPr>
        <dsp:cNvPr id="0" name=""/>
        <dsp:cNvSpPr/>
      </dsp:nvSpPr>
      <dsp:spPr>
        <a:xfrm>
          <a:off x="7173684" y="811639"/>
          <a:ext cx="1278320" cy="3246556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3DE52A-2F45-45E6-AD0E-D5BEAF609F8E}">
      <dsp:nvSpPr>
        <dsp:cNvPr id="0" name=""/>
        <dsp:cNvSpPr/>
      </dsp:nvSpPr>
      <dsp:spPr>
        <a:xfrm>
          <a:off x="7173684" y="0"/>
          <a:ext cx="1278320" cy="81163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sp:txBody>
      <dsp:txXfrm>
        <a:off x="7173684" y="0"/>
        <a:ext cx="1278320" cy="811639"/>
      </dsp:txXfrm>
    </dsp:sp>
    <dsp:sp modelId="{FC0F1314-3294-4A8C-8DCE-EB53E236164C}">
      <dsp:nvSpPr>
        <dsp:cNvPr id="0" name=""/>
        <dsp:cNvSpPr/>
      </dsp:nvSpPr>
      <dsp:spPr>
        <a:xfrm>
          <a:off x="5898557" y="811639"/>
          <a:ext cx="1278320" cy="304364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AD338D-3122-4454-9A67-16BE024D44E3}">
      <dsp:nvSpPr>
        <dsp:cNvPr id="0" name=""/>
        <dsp:cNvSpPr/>
      </dsp:nvSpPr>
      <dsp:spPr>
        <a:xfrm>
          <a:off x="5898557" y="101454"/>
          <a:ext cx="1278320" cy="7101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sp:txBody>
      <dsp:txXfrm>
        <a:off x="5898557" y="101454"/>
        <a:ext cx="1278320" cy="710184"/>
      </dsp:txXfrm>
    </dsp:sp>
    <dsp:sp modelId="{2532504F-5FE1-4C97-B485-F05E8885EACC}">
      <dsp:nvSpPr>
        <dsp:cNvPr id="0" name=""/>
        <dsp:cNvSpPr/>
      </dsp:nvSpPr>
      <dsp:spPr>
        <a:xfrm>
          <a:off x="4620236" y="811639"/>
          <a:ext cx="1278320" cy="284073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2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0" kern="1200" dirty="0"/>
            <a:t>REVIEW-3 (Weeks 9-12):</a:t>
          </a:r>
          <a:endParaRPr lang="en-US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0" kern="1200" dirty="0"/>
            <a:t>✓Complete Device Enrolled</a:t>
          </a:r>
        </a:p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0" kern="1200" dirty="0"/>
            <a:t>✓Security assessment</a:t>
          </a:r>
        </a:p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0" kern="1200" dirty="0"/>
            <a:t>✓User testing</a:t>
          </a:r>
        </a:p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0" kern="1200" dirty="0"/>
            <a:t>✓Final handover</a:t>
          </a:r>
        </a:p>
      </dsp:txBody>
      <dsp:txXfrm>
        <a:off x="4782502" y="811639"/>
        <a:ext cx="1116055" cy="2840736"/>
      </dsp:txXfrm>
    </dsp:sp>
    <dsp:sp modelId="{4C66D42D-7E6D-4563-AFDC-369C30B73F70}">
      <dsp:nvSpPr>
        <dsp:cNvPr id="0" name=""/>
        <dsp:cNvSpPr/>
      </dsp:nvSpPr>
      <dsp:spPr>
        <a:xfrm>
          <a:off x="4620236" y="206156"/>
          <a:ext cx="1278320" cy="6087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sp:txBody>
      <dsp:txXfrm>
        <a:off x="4620236" y="206156"/>
        <a:ext cx="1278320" cy="608729"/>
      </dsp:txXfrm>
    </dsp:sp>
    <dsp:sp modelId="{06F8D57B-EDF4-4CF4-8700-DC2CA3E3028E}">
      <dsp:nvSpPr>
        <dsp:cNvPr id="0" name=""/>
        <dsp:cNvSpPr/>
      </dsp:nvSpPr>
      <dsp:spPr>
        <a:xfrm>
          <a:off x="3341915" y="811639"/>
          <a:ext cx="1278320" cy="263782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0" kern="1200" dirty="0"/>
            <a:t>REVIEW-2 (Weeks 5-8):</a:t>
          </a:r>
          <a:endParaRPr lang="en-US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0" kern="1200" dirty="0"/>
            <a:t>✓ </a:t>
          </a:r>
          <a:r>
            <a:rPr lang="en-IN" sz="1400" b="0" kern="1200" dirty="0" err="1"/>
            <a:t>Winpak</a:t>
          </a:r>
          <a:r>
            <a:rPr lang="en-IN" sz="1400" b="0" kern="1200" dirty="0"/>
            <a:t> Honeywell Learning</a:t>
          </a:r>
        </a:p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0" kern="1200" dirty="0"/>
            <a:t>✓ Graph API Testing</a:t>
          </a:r>
        </a:p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0" kern="1200" dirty="0"/>
            <a:t>✓ Testing setup</a:t>
          </a:r>
        </a:p>
      </dsp:txBody>
      <dsp:txXfrm>
        <a:off x="3504181" y="811639"/>
        <a:ext cx="1116055" cy="2637826"/>
      </dsp:txXfrm>
    </dsp:sp>
    <dsp:sp modelId="{00BB3360-A9BB-4051-A4B1-1216F82F642C}">
      <dsp:nvSpPr>
        <dsp:cNvPr id="0" name=""/>
        <dsp:cNvSpPr/>
      </dsp:nvSpPr>
      <dsp:spPr>
        <a:xfrm>
          <a:off x="3341915" y="304364"/>
          <a:ext cx="1278320" cy="5072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sp:txBody>
      <dsp:txXfrm>
        <a:off x="3341915" y="304364"/>
        <a:ext cx="1278320" cy="507274"/>
      </dsp:txXfrm>
    </dsp:sp>
    <dsp:sp modelId="{A134CDD1-D85F-44EF-8BEE-9F99A855C1E6}">
      <dsp:nvSpPr>
        <dsp:cNvPr id="0" name=""/>
        <dsp:cNvSpPr/>
      </dsp:nvSpPr>
      <dsp:spPr>
        <a:xfrm>
          <a:off x="2063594" y="811639"/>
          <a:ext cx="1278320" cy="243491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4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0" kern="1200" dirty="0"/>
            <a:t>REVIEW-1 (Weeks 1-4):</a:t>
          </a:r>
          <a:endParaRPr lang="en-US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0" kern="1200" dirty="0"/>
            <a:t>✓ Orientation &amp; requirement analysis</a:t>
          </a:r>
        </a:p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0" kern="1200" dirty="0"/>
            <a:t>✓ Microsoft Intune tool Learning</a:t>
          </a:r>
        </a:p>
      </dsp:txBody>
      <dsp:txXfrm>
        <a:off x="2225860" y="811639"/>
        <a:ext cx="1116055" cy="2434917"/>
      </dsp:txXfrm>
    </dsp:sp>
    <dsp:sp modelId="{65257024-FAC0-4522-B139-1CC85B547BE8}">
      <dsp:nvSpPr>
        <dsp:cNvPr id="0" name=""/>
        <dsp:cNvSpPr/>
      </dsp:nvSpPr>
      <dsp:spPr>
        <a:xfrm>
          <a:off x="2063594" y="405819"/>
          <a:ext cx="1278320" cy="4058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sp:txBody>
      <dsp:txXfrm>
        <a:off x="2063594" y="405819"/>
        <a:ext cx="1278320" cy="405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28/02/2026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45634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28-02-2026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28-02-2026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28-02-2026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28-02-2026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28-02-2026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28-02-2026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28-02-2026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28-02-2026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28-02-2026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28-02-2026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28-02-2026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28-02-2026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ithub.com/saif8888888888888/TATA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Dr./Mr./Ms./Prof.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Professor / Associate Professor / 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B.Tech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Cyber Security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Dr. </a:t>
            </a:r>
            <a:r>
              <a:rPr lang="en-US" sz="20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Anandraj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</a:t>
            </a:r>
            <a:r>
              <a:rPr lang="en-US" sz="20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Sp</a:t>
            </a:r>
            <a:endParaRPr lang="en-US" sz="2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20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Sharmasth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Vali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			s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Review-2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Intune MDM/ Testing End Points/ End Point Security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8054733"/>
              </p:ext>
            </p:extLst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Syed Saifulla 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20231CCS3004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8CCS02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9404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0BD548-8EEE-9A88-7EAA-4BC718DAE329}"/>
              </a:ext>
            </a:extLst>
          </p:cNvPr>
          <p:cNvSpPr txBox="1"/>
          <p:nvPr/>
        </p:nvSpPr>
        <p:spPr>
          <a:xfrm>
            <a:off x="447040" y="1045030"/>
            <a:ext cx="6096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COMPANY: TATA Advanced Systems Limited (TASL)</a:t>
            </a:r>
          </a:p>
          <a:p>
            <a:r>
              <a:rPr lang="en-IN" dirty="0"/>
              <a:t>INDUSTRY: Aerospace, </a:t>
            </a:r>
            <a:r>
              <a:rPr lang="en-IN" dirty="0" err="1"/>
              <a:t>Defense</a:t>
            </a:r>
            <a:r>
              <a:rPr lang="en-IN" dirty="0"/>
              <a:t>, and Security Solutions</a:t>
            </a:r>
          </a:p>
          <a:p>
            <a:endParaRPr lang="en-IN" dirty="0"/>
          </a:p>
          <a:p>
            <a:r>
              <a:rPr lang="en-IN" b="1" dirty="0"/>
              <a:t>OVERVIEW:</a:t>
            </a:r>
          </a:p>
          <a:p>
            <a:r>
              <a:rPr lang="en-IN" dirty="0"/>
              <a:t>• Strategic unit of Tata Group focusing on high-technology </a:t>
            </a:r>
            <a:r>
              <a:rPr lang="en-IN" dirty="0" err="1"/>
              <a:t>defense</a:t>
            </a:r>
            <a:r>
              <a:rPr lang="en-IN" dirty="0"/>
              <a:t> solutions</a:t>
            </a:r>
          </a:p>
          <a:p>
            <a:r>
              <a:rPr lang="en-IN" dirty="0"/>
              <a:t>• Critical infrastructure supporting national security projects</a:t>
            </a:r>
          </a:p>
          <a:p>
            <a:r>
              <a:rPr lang="en-IN" dirty="0"/>
              <a:t>• State-of-the-art IT security implementations</a:t>
            </a:r>
          </a:p>
          <a:p>
            <a:r>
              <a:rPr lang="en-IN" dirty="0"/>
              <a:t>• Compliance with stringent </a:t>
            </a:r>
            <a:r>
              <a:rPr lang="en-IN" dirty="0" err="1"/>
              <a:t>defense</a:t>
            </a:r>
            <a:r>
              <a:rPr lang="en-IN" dirty="0"/>
              <a:t> security standards</a:t>
            </a:r>
          </a:p>
          <a:p>
            <a:endParaRPr lang="en-IN" dirty="0"/>
          </a:p>
          <a:p>
            <a:r>
              <a:rPr lang="en-IN" b="1" dirty="0"/>
              <a:t>IT DEPARTMENT ROLE:</a:t>
            </a:r>
          </a:p>
          <a:p>
            <a:r>
              <a:rPr lang="en-IN" dirty="0"/>
              <a:t>• Provides secure, scalable IT infrastructure</a:t>
            </a:r>
          </a:p>
          <a:p>
            <a:r>
              <a:rPr lang="en-IN" dirty="0"/>
              <a:t>• Manages endpoint security for classified projects</a:t>
            </a:r>
          </a:p>
          <a:p>
            <a:r>
              <a:rPr lang="en-IN" dirty="0"/>
              <a:t>• Implements </a:t>
            </a:r>
            <a:r>
              <a:rPr lang="en-IN" dirty="0" err="1"/>
              <a:t>defense</a:t>
            </a:r>
            <a:r>
              <a:rPr lang="en-IN" dirty="0"/>
              <a:t>-grade security protocols</a:t>
            </a:r>
          </a:p>
          <a:p>
            <a:r>
              <a:rPr lang="en-IN" dirty="0"/>
              <a:t>• Ensures compliance with regulatory requirements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B53A6-07FE-7750-5C5E-E0257229E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263CF-9797-E62A-AAD9-EDDEF96EF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534690-90AC-1088-C350-8ADBDC4BC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D649E1-AC5B-0DEB-7BF6-F73FFD11DF3E}"/>
              </a:ext>
            </a:extLst>
          </p:cNvPr>
          <p:cNvSpPr txBox="1"/>
          <p:nvPr/>
        </p:nvSpPr>
        <p:spPr>
          <a:xfrm>
            <a:off x="447040" y="1045030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b="1" dirty="0"/>
              <a:t>KEY SECURITY AREAS:</a:t>
            </a:r>
          </a:p>
          <a:p>
            <a:pPr latinLnBrk="1"/>
            <a:r>
              <a:rPr lang="en-US" dirty="0"/>
              <a:t>1. Network &amp; Endpoint Security</a:t>
            </a:r>
          </a:p>
          <a:p>
            <a:pPr latinLnBrk="1"/>
            <a:r>
              <a:rPr lang="en-US" dirty="0"/>
              <a:t>2. Secure Device Management (MDM)</a:t>
            </a:r>
          </a:p>
          <a:p>
            <a:pPr latinLnBrk="1"/>
            <a:r>
              <a:rPr lang="en-US" dirty="0"/>
              <a:t>3. Data Protection &amp; Encryption</a:t>
            </a:r>
          </a:p>
          <a:p>
            <a:pPr latinLnBrk="1"/>
            <a:r>
              <a:rPr lang="en-US" dirty="0"/>
              <a:t>4. Security Operations Center (SOC)</a:t>
            </a:r>
          </a:p>
          <a:p>
            <a:pPr latinLnBrk="1"/>
            <a:r>
              <a:rPr lang="en-US" dirty="0"/>
              <a:t>5. Compliance Management</a:t>
            </a:r>
          </a:p>
          <a:p>
            <a:pPr latinLnBrk="1"/>
            <a:endParaRPr lang="en-US" dirty="0"/>
          </a:p>
          <a:p>
            <a:pPr latinLnBrk="1"/>
            <a:r>
              <a:rPr lang="en-US" b="1" dirty="0"/>
              <a:t>INTERNSHIP DETAILS:</a:t>
            </a:r>
          </a:p>
          <a:p>
            <a:pPr latinLnBrk="1"/>
            <a:r>
              <a:rPr lang="en-US" dirty="0"/>
              <a:t>• Duration: 05-Jan-2026 to 05-Apr-2026</a:t>
            </a:r>
          </a:p>
          <a:p>
            <a:pPr latinLnBrk="1"/>
            <a:r>
              <a:rPr lang="en-US" dirty="0"/>
              <a:t>• Location: Bengaluru, Electronics City</a:t>
            </a:r>
          </a:p>
          <a:p>
            <a:pPr latinLnBrk="1"/>
            <a:r>
              <a:rPr lang="en-US" dirty="0"/>
              <a:t>• Department: IT - Endpoint Security Unit</a:t>
            </a:r>
          </a:p>
        </p:txBody>
      </p:sp>
    </p:spTree>
    <p:extLst>
      <p:ext uri="{BB962C8B-B14F-4D97-AF65-F5344CB8AC3E}">
        <p14:creationId xmlns:p14="http://schemas.microsoft.com/office/powerpoint/2010/main" val="41831517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>
            <a:normAutofit fontScale="90000"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Endpoint Security And Mobile Device Management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C006CB-868C-A15A-BFE4-AB4CB671B833}"/>
              </a:ext>
            </a:extLst>
          </p:cNvPr>
          <p:cNvSpPr txBox="1"/>
          <p:nvPr/>
        </p:nvSpPr>
        <p:spPr>
          <a:xfrm>
            <a:off x="731520" y="939026"/>
            <a:ext cx="1167384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r>
              <a:rPr lang="en-IN" b="1" dirty="0"/>
              <a:t>TECHNOLOGIES USED:                                      </a:t>
            </a:r>
          </a:p>
          <a:p>
            <a:r>
              <a:rPr lang="en-IN" dirty="0"/>
              <a:t>• Microsoft Intune MDM</a:t>
            </a:r>
          </a:p>
          <a:p>
            <a:r>
              <a:rPr lang="en-IN" dirty="0"/>
              <a:t>• Microsoft Defender for Endpoint</a:t>
            </a:r>
          </a:p>
          <a:p>
            <a:r>
              <a:rPr lang="en-IN" dirty="0"/>
              <a:t>• Graph API for automation</a:t>
            </a:r>
          </a:p>
          <a:p>
            <a:r>
              <a:rPr lang="en-IN" dirty="0"/>
              <a:t>• </a:t>
            </a:r>
            <a:r>
              <a:rPr lang="en-IN" dirty="0" err="1"/>
              <a:t>WinPak</a:t>
            </a:r>
            <a:r>
              <a:rPr lang="en-IN" dirty="0"/>
              <a:t> Attendance Systems</a:t>
            </a:r>
          </a:p>
          <a:p>
            <a:r>
              <a:rPr lang="en-IN" dirty="0"/>
              <a:t>• Azure Functions &amp; Logic Apps</a:t>
            </a:r>
          </a:p>
          <a:p>
            <a:r>
              <a:rPr lang="en-IN" dirty="0"/>
              <a:t>• PowerShell for automation</a:t>
            </a:r>
          </a:p>
          <a:p>
            <a:r>
              <a:rPr lang="en-IN" dirty="0"/>
              <a:t>• SQL Server for database</a:t>
            </a:r>
          </a:p>
          <a:p>
            <a:endParaRPr lang="en-IN" b="1" dirty="0"/>
          </a:p>
          <a:p>
            <a:r>
              <a:rPr lang="en-IN" b="1" dirty="0"/>
              <a:t>KEY RESPONSIBILITIES:</a:t>
            </a:r>
          </a:p>
          <a:p>
            <a:r>
              <a:rPr lang="en-IN" dirty="0"/>
              <a:t>1. Intune MDM Configuration &amp; Management</a:t>
            </a:r>
          </a:p>
          <a:p>
            <a:r>
              <a:rPr lang="en-IN" dirty="0"/>
              <a:t>2. Endpoint Security Testing</a:t>
            </a:r>
          </a:p>
          <a:p>
            <a:r>
              <a:rPr lang="en-IN" dirty="0"/>
              <a:t>3. Device </a:t>
            </a:r>
            <a:r>
              <a:rPr lang="en-IN" dirty="0" err="1"/>
              <a:t>Enrollment</a:t>
            </a:r>
            <a:endParaRPr lang="en-IN" dirty="0"/>
          </a:p>
          <a:p>
            <a:r>
              <a:rPr lang="en-IN" dirty="0"/>
              <a:t>4. Security Compliance Monitoring</a:t>
            </a:r>
          </a:p>
          <a:p>
            <a:r>
              <a:rPr lang="en-IN" dirty="0"/>
              <a:t>5. Automated Security Workflows</a:t>
            </a:r>
          </a:p>
          <a:p>
            <a:r>
              <a:rPr lang="en-IN" dirty="0"/>
              <a:t>6. Incident Response Support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81F03-2391-2D03-E0AD-A5E011693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0F844-EDB7-0695-858C-7257D79A9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>
            <a:normAutofit fontScale="90000"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Endpoint Security And Mobile Device Management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6C8A5F-A136-1D4E-CB04-7B36168D5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C605D2-7D5C-0AB1-370F-A6B10B5F42AF}"/>
              </a:ext>
            </a:extLst>
          </p:cNvPr>
          <p:cNvSpPr txBox="1"/>
          <p:nvPr/>
        </p:nvSpPr>
        <p:spPr>
          <a:xfrm>
            <a:off x="838200" y="1460251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b="1" dirty="0"/>
              <a:t>SPECIAL PROJECT:</a:t>
            </a:r>
          </a:p>
          <a:p>
            <a:pPr latinLnBrk="1"/>
            <a:r>
              <a:rPr lang="en-US" dirty="0"/>
              <a:t>• Integration of </a:t>
            </a:r>
            <a:r>
              <a:rPr lang="en-US" dirty="0" err="1"/>
              <a:t>WinPak</a:t>
            </a:r>
            <a:r>
              <a:rPr lang="en-US" dirty="0"/>
              <a:t> attendance with Intune MDM</a:t>
            </a:r>
          </a:p>
          <a:p>
            <a:pPr latinLnBrk="1"/>
            <a:r>
              <a:rPr lang="en-US" dirty="0"/>
              <a:t>• Automated device restrictions based on physical presence</a:t>
            </a:r>
          </a:p>
          <a:p>
            <a:pPr latinLnBrk="1"/>
            <a:r>
              <a:rPr lang="en-US" dirty="0"/>
              <a:t>• Context-aware security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40383199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241A93-E78C-83B6-AF73-C30E6F3CFD93}"/>
              </a:ext>
            </a:extLst>
          </p:cNvPr>
          <p:cNvSpPr txBox="1"/>
          <p:nvPr/>
        </p:nvSpPr>
        <p:spPr>
          <a:xfrm>
            <a:off x="838200" y="1022985"/>
            <a:ext cx="609600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TEAM STRUCTURE:</a:t>
            </a:r>
          </a:p>
          <a:p>
            <a:r>
              <a:rPr lang="en-IN" sz="1400" dirty="0"/>
              <a:t>IT Department - Endpoint Management Unit</a:t>
            </a:r>
          </a:p>
          <a:p>
            <a:r>
              <a:rPr lang="en-IN" sz="1400" dirty="0"/>
              <a:t>Security Analysts (3 members)</a:t>
            </a:r>
          </a:p>
          <a:p>
            <a:r>
              <a:rPr lang="en-IN" sz="1400" dirty="0"/>
              <a:t>MDM Administrators (2 members)</a:t>
            </a:r>
          </a:p>
          <a:p>
            <a:r>
              <a:rPr lang="en-IN" sz="1400" dirty="0"/>
              <a:t>Network Security Engineers (2 members)</a:t>
            </a:r>
          </a:p>
          <a:p>
            <a:r>
              <a:rPr lang="en-IN" sz="1400" dirty="0"/>
              <a:t>Intern: Myself (Endpoint Security Testing)</a:t>
            </a:r>
          </a:p>
          <a:p>
            <a:endParaRPr lang="en-IN" sz="1400" dirty="0"/>
          </a:p>
          <a:p>
            <a:r>
              <a:rPr lang="en-IN" sz="1400" b="1" dirty="0"/>
              <a:t>MY ROLE &amp; RESPONSIBILITIES:</a:t>
            </a:r>
          </a:p>
          <a:p>
            <a:r>
              <a:rPr lang="en-IN" sz="1400" dirty="0"/>
              <a:t>✓ Assist in endpoint device security testing</a:t>
            </a:r>
          </a:p>
          <a:p>
            <a:r>
              <a:rPr lang="en-IN" sz="1400" dirty="0"/>
              <a:t>✓ Support Intune MDM deployment and management</a:t>
            </a:r>
          </a:p>
          <a:p>
            <a:r>
              <a:rPr lang="en-IN" sz="1400" dirty="0"/>
              <a:t>✓ Implement automated security policies</a:t>
            </a:r>
          </a:p>
          <a:p>
            <a:r>
              <a:rPr lang="en-IN" sz="1400" dirty="0"/>
              <a:t>✓ Test device </a:t>
            </a:r>
            <a:r>
              <a:rPr lang="en-IN" sz="1400" dirty="0" err="1"/>
              <a:t>enrollment</a:t>
            </a:r>
            <a:r>
              <a:rPr lang="en-IN" sz="1400" dirty="0"/>
              <a:t> and compliance</a:t>
            </a:r>
          </a:p>
          <a:p>
            <a:r>
              <a:rPr lang="en-IN" sz="1400" dirty="0"/>
              <a:t>✓ Document security configurations</a:t>
            </a:r>
          </a:p>
          <a:p>
            <a:r>
              <a:rPr lang="en-IN" sz="1400" dirty="0"/>
              <a:t>✓ Monitor security alerts and incidents</a:t>
            </a:r>
          </a:p>
          <a:p>
            <a:endParaRPr lang="en-IN" sz="1400" dirty="0"/>
          </a:p>
          <a:p>
            <a:r>
              <a:rPr lang="en-IN" sz="1400" b="1" dirty="0"/>
              <a:t>REPORTING STRUCTURE:</a:t>
            </a:r>
          </a:p>
          <a:p>
            <a:r>
              <a:rPr lang="en-IN" sz="1400" dirty="0"/>
              <a:t>• Reporting Manager: Mr. Satya Prasad</a:t>
            </a:r>
          </a:p>
          <a:p>
            <a:r>
              <a:rPr lang="en-IN" sz="1400" dirty="0"/>
              <a:t>• Designation: Team Lead - Endpoint Management</a:t>
            </a:r>
          </a:p>
          <a:p>
            <a:r>
              <a:rPr lang="en-IN" sz="1400" dirty="0"/>
              <a:t>• Daily Stand-ups: 8:30 AM</a:t>
            </a:r>
          </a:p>
          <a:p>
            <a:r>
              <a:rPr lang="en-IN" sz="1400" dirty="0"/>
              <a:t>• Weekly Review: Every Friday</a:t>
            </a:r>
          </a:p>
          <a:p>
            <a:r>
              <a:rPr lang="en-IN" sz="1400" dirty="0"/>
              <a:t>• Project Updates: Bi-weekly presentations</a:t>
            </a:r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F8C608-911A-74BB-586F-90CB27A37B12}"/>
              </a:ext>
            </a:extLst>
          </p:cNvPr>
          <p:cNvSpPr txBox="1"/>
          <p:nvPr/>
        </p:nvSpPr>
        <p:spPr>
          <a:xfrm>
            <a:off x="934720" y="1027609"/>
            <a:ext cx="741680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TECHNICAL CHALLENGES:</a:t>
            </a:r>
          </a:p>
          <a:p>
            <a:r>
              <a:rPr lang="en-IN" sz="1400" dirty="0"/>
              <a:t>1. Complex Enterprise Architecture</a:t>
            </a:r>
          </a:p>
          <a:p>
            <a:r>
              <a:rPr lang="en-IN" sz="1400" dirty="0"/>
              <a:t>   • Large-scale infrastructure with multiple integration points</a:t>
            </a:r>
          </a:p>
          <a:p>
            <a:r>
              <a:rPr lang="en-IN" sz="1400" dirty="0"/>
              <a:t>   • Legacy systems compatibility issues</a:t>
            </a:r>
          </a:p>
          <a:p>
            <a:r>
              <a:rPr lang="en-IN" sz="1400" dirty="0"/>
              <a:t>   • Performance optimization for real-time processing</a:t>
            </a:r>
          </a:p>
          <a:p>
            <a:endParaRPr lang="en-IN" sz="1400" dirty="0"/>
          </a:p>
          <a:p>
            <a:r>
              <a:rPr lang="en-IN" sz="1400" dirty="0"/>
              <a:t>2. Security Implementation Hurdles</a:t>
            </a:r>
          </a:p>
          <a:p>
            <a:r>
              <a:rPr lang="en-IN" sz="1400" dirty="0"/>
              <a:t>   • Balancing security with user productivity</a:t>
            </a:r>
          </a:p>
          <a:p>
            <a:r>
              <a:rPr lang="en-IN" sz="1400" dirty="0"/>
              <a:t>   • Certificate management complexities</a:t>
            </a:r>
          </a:p>
          <a:p>
            <a:r>
              <a:rPr lang="en-IN" sz="1400" dirty="0"/>
              <a:t>   • Policy conflicts and resolution</a:t>
            </a:r>
          </a:p>
          <a:p>
            <a:endParaRPr lang="en-IN" sz="1400" dirty="0"/>
          </a:p>
          <a:p>
            <a:r>
              <a:rPr lang="en-IN" sz="1400" dirty="0"/>
              <a:t>3. Integration Difficulties</a:t>
            </a:r>
          </a:p>
          <a:p>
            <a:r>
              <a:rPr lang="en-IN" sz="1400" dirty="0"/>
              <a:t>   • API rate limiting and throttling</a:t>
            </a:r>
          </a:p>
          <a:p>
            <a:r>
              <a:rPr lang="en-IN" sz="1400" dirty="0"/>
              <a:t>   • Data synchronization delays</a:t>
            </a:r>
          </a:p>
          <a:p>
            <a:r>
              <a:rPr lang="en-IN" sz="1400" dirty="0"/>
              <a:t>   • Error handling and recovery mechanisms</a:t>
            </a:r>
          </a:p>
          <a:p>
            <a:endParaRPr lang="en-IN" sz="1400" dirty="0"/>
          </a:p>
          <a:p>
            <a:r>
              <a:rPr lang="en-IN" sz="1400" b="1" dirty="0"/>
              <a:t>PROFESSIONAL CHALLENGES:</a:t>
            </a:r>
          </a:p>
          <a:p>
            <a:r>
              <a:rPr lang="en-IN" sz="1400" dirty="0"/>
              <a:t>1. Corporate Environment Adaptation</a:t>
            </a:r>
          </a:p>
          <a:p>
            <a:r>
              <a:rPr lang="en-IN" sz="1400" dirty="0"/>
              <a:t>   • Understanding enterprise workflows</a:t>
            </a:r>
          </a:p>
          <a:p>
            <a:r>
              <a:rPr lang="en-IN" sz="1400" dirty="0"/>
              <a:t>   • Compliance with strict security protocols</a:t>
            </a:r>
          </a:p>
          <a:p>
            <a:r>
              <a:rPr lang="en-IN" sz="1400" dirty="0"/>
              <a:t>   • Professional communication standards</a:t>
            </a:r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00DF1E-EA1B-67E1-0D42-26B602EE0A7A}"/>
              </a:ext>
            </a:extLst>
          </p:cNvPr>
          <p:cNvSpPr txBox="1"/>
          <p:nvPr/>
        </p:nvSpPr>
        <p:spPr>
          <a:xfrm>
            <a:off x="838200" y="1228397"/>
            <a:ext cx="60960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PRIMARY OBJECTIVES:</a:t>
            </a:r>
          </a:p>
          <a:p>
            <a:r>
              <a:rPr lang="en-IN" sz="1400" dirty="0"/>
              <a:t>1. Design and implement automated device security system</a:t>
            </a:r>
          </a:p>
          <a:p>
            <a:r>
              <a:rPr lang="en-IN" sz="1400" dirty="0"/>
              <a:t>2. Integrate attendance tracking with device management</a:t>
            </a:r>
          </a:p>
          <a:p>
            <a:r>
              <a:rPr lang="en-IN" sz="1400" dirty="0"/>
              <a:t>3. Achieve real-time security policy application</a:t>
            </a:r>
          </a:p>
          <a:p>
            <a:r>
              <a:rPr lang="en-IN" sz="1400" dirty="0"/>
              <a:t>4. Ensure minimal user disruption</a:t>
            </a:r>
          </a:p>
          <a:p>
            <a:r>
              <a:rPr lang="en-IN" sz="1400" dirty="0"/>
              <a:t>5. Maintain compliance with security standards</a:t>
            </a:r>
          </a:p>
          <a:p>
            <a:endParaRPr lang="en-IN" sz="1400" dirty="0"/>
          </a:p>
          <a:p>
            <a:r>
              <a:rPr lang="en-IN" sz="1400" b="1" dirty="0"/>
              <a:t>SPECIFIC GOALS:</a:t>
            </a:r>
          </a:p>
          <a:p>
            <a:r>
              <a:rPr lang="en-IN" sz="1400" dirty="0"/>
              <a:t>• Successfully integrate </a:t>
            </a:r>
            <a:r>
              <a:rPr lang="en-IN" sz="1400" dirty="0" err="1"/>
              <a:t>WinPak</a:t>
            </a:r>
            <a:r>
              <a:rPr lang="en-IN" sz="1400" dirty="0"/>
              <a:t> with Intune MDM</a:t>
            </a:r>
          </a:p>
          <a:p>
            <a:r>
              <a:rPr lang="en-IN" sz="1400" dirty="0"/>
              <a:t>• Achieve &lt;5 minute policy application time</a:t>
            </a:r>
          </a:p>
          <a:p>
            <a:r>
              <a:rPr lang="en-IN" sz="1400" dirty="0"/>
              <a:t>• Maintain 95% system uptime</a:t>
            </a:r>
          </a:p>
          <a:p>
            <a:r>
              <a:rPr lang="en-IN" sz="1400" dirty="0"/>
              <a:t>• Reduce manual security interventions by 40%</a:t>
            </a:r>
          </a:p>
          <a:p>
            <a:r>
              <a:rPr lang="en-IN" sz="1400" dirty="0"/>
              <a:t>• Implement comprehensive monitoring and alerting</a:t>
            </a:r>
          </a:p>
          <a:p>
            <a:endParaRPr lang="en-IN" sz="1400" dirty="0"/>
          </a:p>
          <a:p>
            <a:r>
              <a:rPr lang="en-IN" sz="1400" b="1" dirty="0"/>
              <a:t>EXPECTED OUTCOMES:</a:t>
            </a:r>
          </a:p>
          <a:p>
            <a:r>
              <a:rPr lang="en-IN" sz="1400" dirty="0"/>
              <a:t>1. Enhanced endpoint security posture</a:t>
            </a:r>
          </a:p>
          <a:p>
            <a:r>
              <a:rPr lang="en-IN" sz="1400" dirty="0"/>
              <a:t>2. Automated security workflows</a:t>
            </a:r>
          </a:p>
          <a:p>
            <a:r>
              <a:rPr lang="en-IN" sz="1400" dirty="0"/>
              <a:t>3. Reduced attack surface</a:t>
            </a:r>
          </a:p>
          <a:p>
            <a:r>
              <a:rPr lang="en-IN" sz="1400" dirty="0"/>
              <a:t>4. Improved compliance reporting</a:t>
            </a:r>
          </a:p>
          <a:p>
            <a:r>
              <a:rPr lang="en-IN" sz="1400" dirty="0"/>
              <a:t>5. Scalable security architecture</a:t>
            </a:r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1AFB8D-5428-2359-082D-0D1EAB34464E}"/>
              </a:ext>
            </a:extLst>
          </p:cNvPr>
          <p:cNvSpPr txBox="1"/>
          <p:nvPr/>
        </p:nvSpPr>
        <p:spPr>
          <a:xfrm>
            <a:off x="838200" y="1184366"/>
            <a:ext cx="60960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EXISTING SOLUTIONS:</a:t>
            </a:r>
          </a:p>
          <a:p>
            <a:r>
              <a:rPr lang="en-IN" sz="1400" dirty="0"/>
              <a:t>1. Traditional MDM Systems</a:t>
            </a:r>
          </a:p>
          <a:p>
            <a:r>
              <a:rPr lang="en-IN" sz="1400" dirty="0"/>
              <a:t>   • Static policy enforcement</a:t>
            </a:r>
          </a:p>
          <a:p>
            <a:r>
              <a:rPr lang="en-IN" sz="1400" dirty="0"/>
              <a:t>   • Manual configuration management</a:t>
            </a:r>
          </a:p>
          <a:p>
            <a:r>
              <a:rPr lang="en-IN" sz="1400" dirty="0"/>
              <a:t>   • Limited context-awareness</a:t>
            </a:r>
          </a:p>
          <a:p>
            <a:r>
              <a:rPr lang="en-IN" sz="1400" dirty="0"/>
              <a:t>   • High administrative overhead</a:t>
            </a:r>
          </a:p>
          <a:p>
            <a:endParaRPr lang="en-IN" sz="1400" dirty="0"/>
          </a:p>
          <a:p>
            <a:r>
              <a:rPr lang="en-IN" sz="1400" dirty="0"/>
              <a:t>2. Context-Aware Security Systems</a:t>
            </a:r>
          </a:p>
          <a:p>
            <a:r>
              <a:rPr lang="en-IN" sz="1400" dirty="0"/>
              <a:t>   • Location-based policies</a:t>
            </a:r>
          </a:p>
          <a:p>
            <a:r>
              <a:rPr lang="en-IN" sz="1400" dirty="0"/>
              <a:t>   • Time-based restrictions</a:t>
            </a:r>
          </a:p>
          <a:p>
            <a:r>
              <a:rPr lang="en-IN" sz="1400" dirty="0"/>
              <a:t>   • Network-aware controls</a:t>
            </a:r>
          </a:p>
          <a:p>
            <a:r>
              <a:rPr lang="en-IN" sz="1400" dirty="0"/>
              <a:t>   • Limited physical presence integration</a:t>
            </a:r>
          </a:p>
          <a:p>
            <a:endParaRPr lang="en-IN" sz="1400" dirty="0"/>
          </a:p>
          <a:p>
            <a:r>
              <a:rPr lang="en-IN" sz="1400" b="1" dirty="0"/>
              <a:t>RESEARCH GAPS IDENTIFIED:</a:t>
            </a:r>
          </a:p>
          <a:p>
            <a:r>
              <a:rPr lang="en-IN" sz="1400" dirty="0"/>
              <a:t>1. Lack of physical attendance integration</a:t>
            </a:r>
          </a:p>
          <a:p>
            <a:r>
              <a:rPr lang="en-IN" sz="1400" dirty="0"/>
              <a:t>2. Manual intervention requirements</a:t>
            </a:r>
          </a:p>
          <a:p>
            <a:r>
              <a:rPr lang="en-IN" sz="1400" dirty="0"/>
              <a:t>3. Delayed policy application</a:t>
            </a:r>
          </a:p>
          <a:p>
            <a:r>
              <a:rPr lang="en-IN" sz="1400" dirty="0"/>
              <a:t>4. Limited automation capabilities</a:t>
            </a:r>
          </a:p>
          <a:p>
            <a:endParaRPr lang="en-IN" sz="1400" dirty="0"/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9729277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/ 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151104-7BCC-C14F-C9DB-45709C6A54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9020" y="1257300"/>
            <a:ext cx="4343400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4770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91C7CF-49BC-C076-6301-7B76221B03DE}"/>
              </a:ext>
            </a:extLst>
          </p:cNvPr>
          <p:cNvSpPr txBox="1"/>
          <p:nvPr/>
        </p:nvSpPr>
        <p:spPr>
          <a:xfrm>
            <a:off x="838200" y="938887"/>
            <a:ext cx="609600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CURRENT ISSUES:</a:t>
            </a:r>
          </a:p>
          <a:p>
            <a:r>
              <a:rPr lang="en-IN" sz="1400" dirty="0"/>
              <a:t>1. STATIC SECURITY POLICIES</a:t>
            </a:r>
          </a:p>
          <a:p>
            <a:r>
              <a:rPr lang="en-IN" sz="1400" dirty="0"/>
              <a:t>   • Same policies applied regardless of location</a:t>
            </a:r>
          </a:p>
          <a:p>
            <a:r>
              <a:rPr lang="en-IN" sz="1400" dirty="0"/>
              <a:t>   • No adaptation to user presence</a:t>
            </a:r>
          </a:p>
          <a:p>
            <a:r>
              <a:rPr lang="en-IN" sz="1400" dirty="0"/>
              <a:t>   • Security gaps during office hours</a:t>
            </a:r>
          </a:p>
          <a:p>
            <a:endParaRPr lang="en-IN" sz="1400" dirty="0"/>
          </a:p>
          <a:p>
            <a:r>
              <a:rPr lang="en-IN" sz="1400" dirty="0"/>
              <a:t>2. MANUAL MANAGEMENT</a:t>
            </a:r>
          </a:p>
          <a:p>
            <a:r>
              <a:rPr lang="en-IN" sz="1400" dirty="0"/>
              <a:t>   • IT team manually adjusts device settings</a:t>
            </a:r>
          </a:p>
          <a:p>
            <a:r>
              <a:rPr lang="en-IN" sz="1400" dirty="0"/>
              <a:t>   • Time-consuming and error-prone</a:t>
            </a:r>
          </a:p>
          <a:p>
            <a:r>
              <a:rPr lang="en-IN" sz="1400" dirty="0"/>
              <a:t>   • Delayed response to security needs</a:t>
            </a:r>
          </a:p>
          <a:p>
            <a:endParaRPr lang="en-IN" sz="1400" dirty="0"/>
          </a:p>
          <a:p>
            <a:r>
              <a:rPr lang="en-IN" sz="1400" dirty="0"/>
              <a:t>3. PRODUCTIVITY VS SECURITY CONFLICT</a:t>
            </a:r>
          </a:p>
          <a:p>
            <a:r>
              <a:rPr lang="en-IN" sz="1400" dirty="0"/>
              <a:t>   • Strict security hinders productivity</a:t>
            </a:r>
          </a:p>
          <a:p>
            <a:r>
              <a:rPr lang="en-IN" sz="1400" dirty="0"/>
              <a:t>   • Lenient policies create vulnerabilities</a:t>
            </a:r>
          </a:p>
          <a:p>
            <a:r>
              <a:rPr lang="en-IN" sz="1400" dirty="0"/>
              <a:t>   • No balanced approach</a:t>
            </a:r>
          </a:p>
          <a:p>
            <a:endParaRPr lang="en-IN" sz="1400" dirty="0"/>
          </a:p>
          <a:p>
            <a:r>
              <a:rPr lang="en-IN" sz="1400" dirty="0"/>
              <a:t>4. COMPLIANCE CHALLENGES</a:t>
            </a:r>
          </a:p>
          <a:p>
            <a:r>
              <a:rPr lang="en-IN" sz="1400" dirty="0"/>
              <a:t>   • Difficulty proving security compliance</a:t>
            </a:r>
          </a:p>
          <a:p>
            <a:r>
              <a:rPr lang="en-IN" sz="1400" dirty="0"/>
              <a:t>   • Manual audit trails</a:t>
            </a:r>
          </a:p>
          <a:p>
            <a:r>
              <a:rPr lang="en-IN" sz="1400" dirty="0"/>
              <a:t>   • Inconsistent policy application</a:t>
            </a:r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4505980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20CC9A-3E74-0A49-6DC6-1467AEB38B27}"/>
              </a:ext>
            </a:extLst>
          </p:cNvPr>
          <p:cNvSpPr txBox="1"/>
          <p:nvPr/>
        </p:nvSpPr>
        <p:spPr>
          <a:xfrm>
            <a:off x="1016000" y="1166842"/>
            <a:ext cx="6096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HARDWARE:</a:t>
            </a:r>
          </a:p>
          <a:p>
            <a:r>
              <a:rPr lang="en-IN" dirty="0"/>
              <a:t>• </a:t>
            </a:r>
            <a:r>
              <a:rPr lang="en-IN" dirty="0" err="1"/>
              <a:t>WinPak</a:t>
            </a:r>
            <a:r>
              <a:rPr lang="en-IN" dirty="0"/>
              <a:t> Server: Intel Xeon, 32GB RAM, 1TB SSD</a:t>
            </a:r>
          </a:p>
          <a:p>
            <a:r>
              <a:rPr lang="en-IN" dirty="0"/>
              <a:t>• Integration: Azure Standard D4s v3</a:t>
            </a:r>
          </a:p>
          <a:p>
            <a:r>
              <a:rPr lang="en-IN" dirty="0"/>
              <a:t>• Devices: iOS 14+/Android 10+/Windows 10+</a:t>
            </a:r>
          </a:p>
          <a:p>
            <a:endParaRPr lang="en-IN" dirty="0"/>
          </a:p>
          <a:p>
            <a:r>
              <a:rPr lang="en-IN" b="1" dirty="0"/>
              <a:t>SOFTWARE:</a:t>
            </a:r>
          </a:p>
          <a:p>
            <a:r>
              <a:rPr lang="en-IN" dirty="0"/>
              <a:t>• </a:t>
            </a:r>
            <a:r>
              <a:rPr lang="en-IN" dirty="0" err="1"/>
              <a:t>WinPak</a:t>
            </a:r>
            <a:r>
              <a:rPr lang="en-IN" dirty="0"/>
              <a:t> Enterprise v4.2</a:t>
            </a:r>
          </a:p>
          <a:p>
            <a:r>
              <a:rPr lang="en-IN" dirty="0"/>
              <a:t>• Microsoft Intune</a:t>
            </a:r>
          </a:p>
          <a:p>
            <a:r>
              <a:rPr lang="en-IN" dirty="0"/>
              <a:t>• Azure Functions</a:t>
            </a:r>
          </a:p>
          <a:p>
            <a:r>
              <a:rPr lang="en-IN" dirty="0"/>
              <a:t>• SQL Server 2019</a:t>
            </a:r>
          </a:p>
          <a:p>
            <a:endParaRPr lang="en-IN" dirty="0"/>
          </a:p>
          <a:p>
            <a:r>
              <a:rPr lang="en-IN" b="1" dirty="0"/>
              <a:t>SECURITY:</a:t>
            </a:r>
          </a:p>
          <a:p>
            <a:r>
              <a:rPr lang="en-IN" dirty="0"/>
              <a:t>• OAuth 2.0 + MFA</a:t>
            </a:r>
          </a:p>
          <a:p>
            <a:r>
              <a:rPr lang="en-IN" dirty="0"/>
              <a:t>• TLS 1.2+, AES-256 encryption</a:t>
            </a:r>
          </a:p>
          <a:p>
            <a:r>
              <a:rPr lang="en-IN" dirty="0"/>
              <a:t>• ISO 27001/NIST compliance</a:t>
            </a:r>
          </a:p>
          <a:p>
            <a:r>
              <a:rPr lang="en-IN" dirty="0"/>
              <a:t>• SIEM integration</a:t>
            </a:r>
          </a:p>
        </p:txBody>
      </p:sp>
    </p:spTree>
    <p:extLst>
      <p:ext uri="{BB962C8B-B14F-4D97-AF65-F5344CB8AC3E}">
        <p14:creationId xmlns:p14="http://schemas.microsoft.com/office/powerpoint/2010/main" val="31286960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165169-1D5E-4C03-8A33-BC5ABBF2FF90}"/>
              </a:ext>
            </a:extLst>
          </p:cNvPr>
          <p:cNvSpPr txBox="1"/>
          <p:nvPr/>
        </p:nvSpPr>
        <p:spPr>
          <a:xfrm>
            <a:off x="1056640" y="1305341"/>
            <a:ext cx="6096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SECURITY:</a:t>
            </a:r>
          </a:p>
          <a:p>
            <a:r>
              <a:rPr lang="en-IN" dirty="0"/>
              <a:t>✓ Real-time policy enforcement</a:t>
            </a:r>
          </a:p>
          <a:p>
            <a:r>
              <a:rPr lang="en-IN" dirty="0"/>
              <a:t>✓ Context-aware adaptation</a:t>
            </a:r>
          </a:p>
          <a:p>
            <a:r>
              <a:rPr lang="en-IN" dirty="0"/>
              <a:t>✓ Reduced attack surface</a:t>
            </a:r>
          </a:p>
          <a:p>
            <a:r>
              <a:rPr lang="en-IN" dirty="0"/>
              <a:t>✓ Automated compliance</a:t>
            </a:r>
          </a:p>
          <a:p>
            <a:endParaRPr lang="en-IN" dirty="0"/>
          </a:p>
          <a:p>
            <a:r>
              <a:rPr lang="en-IN" b="1" dirty="0"/>
              <a:t>OPERATIONAL:</a:t>
            </a:r>
          </a:p>
          <a:p>
            <a:r>
              <a:rPr lang="en-IN" dirty="0"/>
              <a:t>✓ 40% reduced IT workload</a:t>
            </a:r>
          </a:p>
          <a:p>
            <a:r>
              <a:rPr lang="en-IN" dirty="0"/>
              <a:t>✓ &lt;5 minute policy application</a:t>
            </a:r>
          </a:p>
          <a:p>
            <a:r>
              <a:rPr lang="en-IN" dirty="0"/>
              <a:t>✓ Scalable architecture</a:t>
            </a:r>
          </a:p>
          <a:p>
            <a:endParaRPr lang="en-IN" dirty="0"/>
          </a:p>
          <a:p>
            <a:r>
              <a:rPr lang="en-IN" b="1" dirty="0"/>
              <a:t>BUSINESS:</a:t>
            </a:r>
          </a:p>
          <a:p>
            <a:r>
              <a:rPr lang="en-IN" dirty="0"/>
              <a:t>✓ Enhanced security posture</a:t>
            </a:r>
          </a:p>
          <a:p>
            <a:r>
              <a:rPr lang="en-IN" dirty="0"/>
              <a:t>✓ Regulatory compliance</a:t>
            </a:r>
          </a:p>
          <a:p>
            <a:r>
              <a:rPr lang="en-IN" dirty="0"/>
              <a:t>✓ Reduced incident costs</a:t>
            </a:r>
          </a:p>
        </p:txBody>
      </p:sp>
    </p:spTree>
    <p:extLst>
      <p:ext uri="{BB962C8B-B14F-4D97-AF65-F5344CB8AC3E}">
        <p14:creationId xmlns:p14="http://schemas.microsoft.com/office/powerpoint/2010/main" val="22466521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8145911"/>
              </p:ext>
            </p:extLst>
          </p:nvPr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0371" y="901298"/>
            <a:ext cx="6948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Note: Write in the below table what u will be achieving in each review</a:t>
            </a:r>
          </a:p>
        </p:txBody>
      </p:sp>
    </p:spTree>
    <p:extLst>
      <p:ext uri="{BB962C8B-B14F-4D97-AF65-F5344CB8AC3E}">
        <p14:creationId xmlns:p14="http://schemas.microsoft.com/office/powerpoint/2010/main" val="34971002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AF75EB42-4FC5-2CB1-A66D-039709B4D3FF}"/>
              </a:ext>
            </a:extLst>
          </p:cNvPr>
          <p:cNvSpPr txBox="1"/>
          <p:nvPr/>
        </p:nvSpPr>
        <p:spPr>
          <a:xfrm>
            <a:off x="312600" y="1209895"/>
            <a:ext cx="7998023" cy="262571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400" dirty="0">
                <a:latin typeface="Cambria"/>
                <a:cs typeface="Cambria"/>
              </a:rPr>
              <a:t>The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Github</a:t>
            </a:r>
            <a:r>
              <a:rPr sz="2400" spc="-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link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provided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should</a:t>
            </a:r>
            <a:r>
              <a:rPr sz="2400" spc="-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have public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access</a:t>
            </a:r>
            <a:r>
              <a:rPr sz="2400" spc="-7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permission.</a:t>
            </a:r>
            <a:endParaRPr sz="24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24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943735"/>
                </a:solidFill>
                <a:latin typeface="Cambria"/>
                <a:cs typeface="Cambria"/>
              </a:rPr>
              <a:t>Github</a:t>
            </a:r>
            <a:r>
              <a:rPr sz="2400" b="1" spc="-75" dirty="0">
                <a:solidFill>
                  <a:srgbClr val="943735"/>
                </a:solidFill>
                <a:latin typeface="Cambria"/>
                <a:cs typeface="Cambria"/>
              </a:rPr>
              <a:t> </a:t>
            </a:r>
            <a:r>
              <a:rPr sz="2400" b="1" spc="-20" dirty="0">
                <a:solidFill>
                  <a:srgbClr val="943735"/>
                </a:solidFill>
                <a:latin typeface="Cambria"/>
                <a:cs typeface="Cambria"/>
              </a:rPr>
              <a:t>Link</a:t>
            </a:r>
            <a:endParaRPr sz="24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24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 sz="2400" b="1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mbria"/>
                <a:cs typeface="Cambria"/>
                <a:hlinkClick r:id="rId2"/>
              </a:rPr>
              <a:t>https://github.com/saif8888888888888/TATA</a:t>
            </a:r>
            <a:r>
              <a:rPr lang="en-IN" sz="2400" b="1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mbria"/>
                <a:cs typeface="Cambria"/>
              </a:rPr>
              <a:t> Advanced Systems Limited</a:t>
            </a:r>
            <a:endParaRPr sz="2400" dirty="0">
              <a:latin typeface="Cambria"/>
              <a:cs typeface="Cambria"/>
            </a:endParaRPr>
          </a:p>
        </p:txBody>
      </p:sp>
      <p:pic>
        <p:nvPicPr>
          <p:cNvPr id="6" name="Picture 5" descr="A qr code with a black and white background&#10;&#10;AI-generated content may be incorrect.">
            <a:extLst>
              <a:ext uri="{FF2B5EF4-FFF2-40B4-BE49-F238E27FC236}">
                <a16:creationId xmlns:a16="http://schemas.microsoft.com/office/drawing/2014/main" id="{5C917448-FD66-4910-6BA0-C09811E74C4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0623" y="777947"/>
            <a:ext cx="3863160" cy="386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17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7029</TotalTime>
  <Words>1176</Words>
  <Application>Microsoft Office PowerPoint</Application>
  <PresentationFormat>Widescreen</PresentationFormat>
  <Paragraphs>265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About Company or Organization</vt:lpstr>
      <vt:lpstr>Working domain Endpoint Security And Mobile Device Management</vt:lpstr>
      <vt:lpstr>Working domain Endpoint Security And Mobile Device Management</vt:lpstr>
      <vt:lpstr>About your team and reporting Manager</vt:lpstr>
      <vt:lpstr>Challenges Faced in Internship</vt:lpstr>
      <vt:lpstr>Objectives of the work</vt:lpstr>
      <vt:lpstr>Literature Review</vt:lpstr>
      <vt:lpstr>Proposed System / Work</vt:lpstr>
      <vt:lpstr>Problem Statement</vt:lpstr>
      <vt:lpstr>System Requirements</vt:lpstr>
      <vt:lpstr>Advantages of Proposed System/Work</vt:lpstr>
      <vt:lpstr>Internship Road Map</vt:lpstr>
      <vt:lpstr>Github Link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Saifulla Saif</cp:lastModifiedBy>
  <cp:revision>724</cp:revision>
  <dcterms:created xsi:type="dcterms:W3CDTF">2022-10-14T07:18:17Z</dcterms:created>
  <dcterms:modified xsi:type="dcterms:W3CDTF">2026-02-28T07:18:51Z</dcterms:modified>
</cp:coreProperties>
</file>