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1" r:id="rId2"/>
    <p:sldId id="270" r:id="rId3"/>
    <p:sldId id="261" r:id="rId4"/>
    <p:sldId id="282" r:id="rId5"/>
    <p:sldId id="262" r:id="rId6"/>
    <p:sldId id="263" r:id="rId7"/>
    <p:sldId id="264" r:id="rId8"/>
    <p:sldId id="283" r:id="rId9"/>
    <p:sldId id="284" r:id="rId10"/>
    <p:sldId id="285" r:id="rId11"/>
    <p:sldId id="273" r:id="rId12"/>
    <p:sldId id="274" r:id="rId13"/>
    <p:sldId id="287" r:id="rId14"/>
    <p:sldId id="288" r:id="rId15"/>
    <p:sldId id="289" r:id="rId16"/>
    <p:sldId id="290" r:id="rId17"/>
    <p:sldId id="278" r:id="rId18"/>
    <p:sldId id="279" r:id="rId19"/>
    <p:sldId id="280" r:id="rId20"/>
    <p:sldId id="291" r:id="rId21"/>
    <p:sldId id="268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2BE31D-A805-4374-A802-C65F02E28BCD}" v="23" dt="2024-12-11T08:31:31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86" y="9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04/04/2026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04-04-2026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saif8888888888888/TATA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GB" sz="1700" b="1" i="0" u="none" strike="noStrike" cap="none" dirty="0" err="1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Srabana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Cyber Security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Anandraj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Sp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End Point Security Intern – Tata Advanced Systems Limited (TASL)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Saifulla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20231CCS3004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8CCS02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333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TATA Advanced Systems Limited (TASL)</a:t>
            </a:r>
            <a:endParaRPr lang="en-US" dirty="0"/>
          </a:p>
          <a:p>
            <a:r>
              <a:rPr lang="en-US" b="1" dirty="0"/>
              <a:t>Industry:</a:t>
            </a:r>
            <a:r>
              <a:rPr lang="en-US" dirty="0"/>
              <a:t> Aerospace, Defense, and Security Solutions</a:t>
            </a:r>
          </a:p>
          <a:p>
            <a:r>
              <a:rPr lang="en-US" b="1" dirty="0"/>
              <a:t>Strategic unit</a:t>
            </a:r>
            <a:r>
              <a:rPr lang="en-US" dirty="0"/>
              <a:t> of Tata Group – high‑technology defense solutions</a:t>
            </a:r>
          </a:p>
          <a:p>
            <a:r>
              <a:rPr lang="en-US" dirty="0"/>
              <a:t>Supports </a:t>
            </a:r>
            <a:r>
              <a:rPr lang="en-US" b="1" dirty="0"/>
              <a:t>critical national security projects</a:t>
            </a:r>
            <a:endParaRPr lang="en-US" dirty="0"/>
          </a:p>
          <a:p>
            <a:r>
              <a:rPr lang="en-US" dirty="0"/>
              <a:t>State‑of‑the‑art IT security implementations</a:t>
            </a:r>
          </a:p>
          <a:p>
            <a:r>
              <a:rPr lang="en-US" dirty="0"/>
              <a:t>Compliance with </a:t>
            </a:r>
            <a:r>
              <a:rPr lang="en-US" b="1" dirty="0"/>
              <a:t>stringent defense security standards</a:t>
            </a:r>
            <a:r>
              <a:rPr lang="en-US" dirty="0"/>
              <a:t> (ISO 27001, NIST)</a:t>
            </a:r>
          </a:p>
          <a:p>
            <a:pPr marL="0" indent="0">
              <a:buNone/>
            </a:pPr>
            <a:r>
              <a:rPr lang="en-US" b="1" dirty="0"/>
              <a:t>IT Department Role:</a:t>
            </a:r>
            <a:endParaRPr lang="en-US" dirty="0"/>
          </a:p>
          <a:p>
            <a:r>
              <a:rPr lang="en-US" dirty="0"/>
              <a:t>Secure, scalable IT infrastructure</a:t>
            </a:r>
          </a:p>
          <a:p>
            <a:r>
              <a:rPr lang="en-US" dirty="0"/>
              <a:t>Endpoint security for classified projects</a:t>
            </a:r>
          </a:p>
          <a:p>
            <a:r>
              <a:rPr lang="en-US" dirty="0"/>
              <a:t>Defense‑grade security protocols</a:t>
            </a:r>
          </a:p>
          <a:p>
            <a:r>
              <a:rPr lang="en-US" dirty="0"/>
              <a:t>Regulatory compliance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B53A6-07FE-7750-5C5E-E0257229E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63CF-9797-E62A-AAD9-EDDEF96E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34690-90AC-1088-C350-8ADBDC4BC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D649E1-AC5B-0DEB-7BF6-F73FFD11DF3E}"/>
              </a:ext>
            </a:extLst>
          </p:cNvPr>
          <p:cNvSpPr txBox="1"/>
          <p:nvPr/>
        </p:nvSpPr>
        <p:spPr>
          <a:xfrm>
            <a:off x="447040" y="1045030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b="1" dirty="0"/>
              <a:t>KEY SECURITY AREAS:</a:t>
            </a:r>
          </a:p>
          <a:p>
            <a:pPr latinLnBrk="1"/>
            <a:r>
              <a:rPr lang="en-US" dirty="0"/>
              <a:t>1. Network &amp; Endpoint Security</a:t>
            </a:r>
          </a:p>
          <a:p>
            <a:pPr latinLnBrk="1"/>
            <a:r>
              <a:rPr lang="en-US" dirty="0"/>
              <a:t>2. Secure Device Management (MDM)</a:t>
            </a:r>
          </a:p>
          <a:p>
            <a:pPr latinLnBrk="1"/>
            <a:r>
              <a:rPr lang="en-US" dirty="0"/>
              <a:t>3. Data Protection &amp; Encryption</a:t>
            </a:r>
          </a:p>
          <a:p>
            <a:pPr latinLnBrk="1"/>
            <a:r>
              <a:rPr lang="en-US" dirty="0"/>
              <a:t>4. Security Operations Center (SOC)</a:t>
            </a:r>
          </a:p>
          <a:p>
            <a:pPr latinLnBrk="1"/>
            <a:r>
              <a:rPr lang="en-US" dirty="0"/>
              <a:t>5. Compliance Management</a:t>
            </a:r>
          </a:p>
          <a:p>
            <a:pPr latinLnBrk="1"/>
            <a:endParaRPr lang="en-US" dirty="0"/>
          </a:p>
          <a:p>
            <a:pPr latinLnBrk="1"/>
            <a:r>
              <a:rPr lang="en-US" b="1" dirty="0"/>
              <a:t>INTERNSHIP DETAILS:</a:t>
            </a:r>
          </a:p>
          <a:p>
            <a:pPr latinLnBrk="1"/>
            <a:r>
              <a:rPr lang="en-US" dirty="0"/>
              <a:t>• Duration: 05-Jan-2026 to 05-Apr-2026</a:t>
            </a:r>
          </a:p>
          <a:p>
            <a:pPr latinLnBrk="1"/>
            <a:r>
              <a:rPr lang="en-US" dirty="0"/>
              <a:t>• Location: Bengaluru, Electronics City</a:t>
            </a:r>
          </a:p>
          <a:p>
            <a:pPr latinLnBrk="1"/>
            <a:r>
              <a:rPr lang="en-US" dirty="0"/>
              <a:t>• Department: IT - Endpoint Security Unit</a:t>
            </a:r>
          </a:p>
        </p:txBody>
      </p:sp>
    </p:spTree>
    <p:extLst>
      <p:ext uri="{BB962C8B-B14F-4D97-AF65-F5344CB8AC3E}">
        <p14:creationId xmlns:p14="http://schemas.microsoft.com/office/powerpoint/2010/main" val="41831517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Domain:</a:t>
            </a:r>
            <a:r>
              <a:rPr lang="en-IN" dirty="0"/>
              <a:t> Endpoint Security &amp; Mobile Device Management (MDM)</a:t>
            </a:r>
          </a:p>
          <a:p>
            <a:pPr marL="0" indent="0">
              <a:buNone/>
            </a:pPr>
            <a:r>
              <a:rPr lang="en-IN" b="1" dirty="0"/>
              <a:t>Technologies Used:</a:t>
            </a:r>
            <a:endParaRPr lang="en-IN" dirty="0"/>
          </a:p>
          <a:p>
            <a:r>
              <a:rPr lang="en-IN" dirty="0"/>
              <a:t>Microsoft Intune MDM</a:t>
            </a:r>
          </a:p>
          <a:p>
            <a:r>
              <a:rPr lang="en-IN" dirty="0"/>
              <a:t>Microsoft Defender for Endpoint</a:t>
            </a:r>
          </a:p>
          <a:p>
            <a:r>
              <a:rPr lang="en-IN" dirty="0"/>
              <a:t>Graph API for automation</a:t>
            </a:r>
          </a:p>
          <a:p>
            <a:r>
              <a:rPr lang="en-IN" dirty="0" err="1"/>
              <a:t>WinPak</a:t>
            </a:r>
            <a:r>
              <a:rPr lang="en-IN" dirty="0"/>
              <a:t> Attendance Systems</a:t>
            </a:r>
          </a:p>
          <a:p>
            <a:r>
              <a:rPr lang="en-IN" dirty="0"/>
              <a:t>Azure Functions &amp; Logic Apps</a:t>
            </a:r>
          </a:p>
          <a:p>
            <a:r>
              <a:rPr lang="en-IN" dirty="0"/>
              <a:t>PowerShell for automation</a:t>
            </a:r>
          </a:p>
          <a:p>
            <a:r>
              <a:rPr lang="en-IN" dirty="0"/>
              <a:t>SQL Server 2019</a:t>
            </a:r>
          </a:p>
          <a:p>
            <a:pPr marL="0" indent="0">
              <a:buNone/>
            </a:pPr>
            <a:r>
              <a:rPr lang="en-IN" b="1" dirty="0"/>
              <a:t>Key Focus:</a:t>
            </a:r>
            <a:endParaRPr lang="en-IN" dirty="0"/>
          </a:p>
          <a:p>
            <a:r>
              <a:rPr lang="en-IN" dirty="0"/>
              <a:t>Real‑time, context‑aware security policies</a:t>
            </a:r>
          </a:p>
          <a:p>
            <a:r>
              <a:rPr lang="en-IN" dirty="0"/>
              <a:t>Physical presence (attendance) as a policy trigger</a:t>
            </a:r>
          </a:p>
          <a:p>
            <a:r>
              <a:rPr lang="en-IN" dirty="0"/>
              <a:t>Automated device compliance and remediation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Team Structure – IT Endpoint Management Unit:</a:t>
            </a:r>
            <a:endParaRPr lang="en-US" dirty="0"/>
          </a:p>
          <a:p>
            <a:r>
              <a:rPr lang="en-US" dirty="0"/>
              <a:t>Security Analysts – 3 members</a:t>
            </a:r>
          </a:p>
          <a:p>
            <a:r>
              <a:rPr lang="en-US" dirty="0"/>
              <a:t>MDM Administrators – 2 members</a:t>
            </a:r>
          </a:p>
          <a:p>
            <a:r>
              <a:rPr lang="en-US" dirty="0"/>
              <a:t>Network Security Engineers – 2 members</a:t>
            </a:r>
          </a:p>
          <a:p>
            <a:r>
              <a:rPr lang="en-US" b="1" dirty="0"/>
              <a:t>Intern (myself)</a:t>
            </a:r>
            <a:r>
              <a:rPr lang="en-US" dirty="0"/>
              <a:t> – Endpoint Security Testing</a:t>
            </a:r>
          </a:p>
          <a:p>
            <a:pPr marL="0" indent="0">
              <a:buNone/>
            </a:pPr>
            <a:r>
              <a:rPr lang="en-US" b="1" dirty="0"/>
              <a:t>My Role &amp; Responsibilities (Completed):</a:t>
            </a:r>
            <a:endParaRPr lang="en-US" dirty="0"/>
          </a:p>
          <a:p>
            <a:r>
              <a:rPr lang="en-US" dirty="0"/>
              <a:t>Designed and implemented automated security workflows</a:t>
            </a:r>
          </a:p>
          <a:p>
            <a:r>
              <a:rPr lang="en-US" dirty="0"/>
              <a:t>Integrated </a:t>
            </a:r>
            <a:r>
              <a:rPr lang="en-US" dirty="0" err="1"/>
              <a:t>WinPak</a:t>
            </a:r>
            <a:r>
              <a:rPr lang="en-US" dirty="0"/>
              <a:t> attendance with Intune policies</a:t>
            </a:r>
          </a:p>
          <a:p>
            <a:r>
              <a:rPr lang="en-US" dirty="0"/>
              <a:t>Tested device enrollment and compliance for 500+ devices</a:t>
            </a:r>
          </a:p>
          <a:p>
            <a:r>
              <a:rPr lang="en-US" dirty="0"/>
              <a:t>Documented all security configurations and testing results</a:t>
            </a:r>
          </a:p>
          <a:p>
            <a:r>
              <a:rPr lang="en-US" dirty="0"/>
              <a:t>Monitored alerts and contributed to incident response</a:t>
            </a:r>
          </a:p>
          <a:p>
            <a:pPr marL="0" indent="0">
              <a:buNone/>
            </a:pPr>
            <a:r>
              <a:rPr lang="en-US" b="1" dirty="0"/>
              <a:t>Reporting:</a:t>
            </a:r>
            <a:endParaRPr lang="en-US" dirty="0"/>
          </a:p>
          <a:p>
            <a:r>
              <a:rPr lang="en-US" b="1" dirty="0"/>
              <a:t>Manager:</a:t>
            </a:r>
            <a:r>
              <a:rPr lang="en-US" dirty="0"/>
              <a:t> Mr. Satya Prasad (Team Lead – Endpoint Management)</a:t>
            </a:r>
          </a:p>
          <a:p>
            <a:r>
              <a:rPr lang="en-US" dirty="0"/>
              <a:t>Daily stand‑ups, weekly reviews, bi‑weekly presentations (all completed)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Technical Challenges (Overcome):</a:t>
            </a:r>
            <a:endParaRPr lang="en-IN" dirty="0"/>
          </a:p>
          <a:p>
            <a:r>
              <a:rPr lang="en-IN" dirty="0"/>
              <a:t>Complex enterprise architecture – resolved by modular API design</a:t>
            </a:r>
          </a:p>
          <a:p>
            <a:r>
              <a:rPr lang="en-IN" dirty="0"/>
              <a:t>Legacy system compatibility – built middleware using Azure Functions</a:t>
            </a:r>
          </a:p>
          <a:p>
            <a:r>
              <a:rPr lang="en-IN" dirty="0"/>
              <a:t>API rate limiting – implemented retry logic and batch processing</a:t>
            </a:r>
          </a:p>
          <a:p>
            <a:r>
              <a:rPr lang="en-IN" dirty="0"/>
              <a:t>Balancing security vs. productivity – achieved via context‑aware policies</a:t>
            </a:r>
          </a:p>
          <a:p>
            <a:r>
              <a:rPr lang="en-IN" dirty="0"/>
              <a:t>Certificate management – automated renewal via PowerShell scripts</a:t>
            </a:r>
          </a:p>
          <a:p>
            <a:pPr marL="0" indent="0">
              <a:buNone/>
            </a:pPr>
            <a:r>
              <a:rPr lang="en-IN" b="1" dirty="0"/>
              <a:t>Professional Challenges (Overcome):</a:t>
            </a:r>
            <a:endParaRPr lang="en-IN" dirty="0"/>
          </a:p>
          <a:p>
            <a:r>
              <a:rPr lang="en-IN" dirty="0"/>
              <a:t>Adapted to strict security protocols and audit trails</a:t>
            </a:r>
          </a:p>
          <a:p>
            <a:r>
              <a:rPr lang="en-IN" dirty="0"/>
              <a:t>Learned professional communication and documentation standards</a:t>
            </a:r>
          </a:p>
          <a:p>
            <a:r>
              <a:rPr lang="en-IN" dirty="0"/>
              <a:t>Integrated into agile team workflows (daily scrums, Jira)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00DF1E-EA1B-67E1-0D42-26B602EE0A7A}"/>
              </a:ext>
            </a:extLst>
          </p:cNvPr>
          <p:cNvSpPr txBox="1"/>
          <p:nvPr/>
        </p:nvSpPr>
        <p:spPr>
          <a:xfrm>
            <a:off x="838200" y="1228397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PRIMARY OBJECTIVES:</a:t>
            </a:r>
          </a:p>
          <a:p>
            <a:r>
              <a:rPr lang="en-IN" sz="1400" dirty="0"/>
              <a:t>1. Design and implement automated device security system</a:t>
            </a:r>
          </a:p>
          <a:p>
            <a:r>
              <a:rPr lang="en-IN" sz="1400" dirty="0"/>
              <a:t>2. Integrate attendance tracking with device management</a:t>
            </a:r>
          </a:p>
          <a:p>
            <a:r>
              <a:rPr lang="en-IN" sz="1400" dirty="0"/>
              <a:t>3. Achieve real-time security policy application</a:t>
            </a:r>
          </a:p>
          <a:p>
            <a:r>
              <a:rPr lang="en-IN" sz="1400" dirty="0"/>
              <a:t>4. Ensure minimal user disruption</a:t>
            </a:r>
          </a:p>
          <a:p>
            <a:r>
              <a:rPr lang="en-IN" sz="1400" dirty="0"/>
              <a:t>5. Maintain compliance with security standards</a:t>
            </a:r>
          </a:p>
          <a:p>
            <a:endParaRPr lang="en-IN" sz="1400" dirty="0"/>
          </a:p>
          <a:p>
            <a:r>
              <a:rPr lang="en-IN" sz="1400" b="1" dirty="0"/>
              <a:t>SPECIFIC GOALS:</a:t>
            </a:r>
          </a:p>
          <a:p>
            <a:r>
              <a:rPr lang="en-IN" sz="1400" dirty="0"/>
              <a:t>• Successfully integrate </a:t>
            </a:r>
            <a:r>
              <a:rPr lang="en-IN" sz="1400" dirty="0" err="1"/>
              <a:t>WinPak</a:t>
            </a:r>
            <a:r>
              <a:rPr lang="en-IN" sz="1400" dirty="0"/>
              <a:t> with Intune MDM</a:t>
            </a:r>
          </a:p>
          <a:p>
            <a:r>
              <a:rPr lang="en-IN" sz="1400" dirty="0"/>
              <a:t>• Achieve &lt;5 minute policy application time</a:t>
            </a:r>
          </a:p>
          <a:p>
            <a:r>
              <a:rPr lang="en-IN" sz="1400" dirty="0"/>
              <a:t>• Maintain 95% system uptime</a:t>
            </a:r>
          </a:p>
          <a:p>
            <a:r>
              <a:rPr lang="en-IN" sz="1400" dirty="0"/>
              <a:t>• Reduce manual security interventions by 40%</a:t>
            </a:r>
          </a:p>
          <a:p>
            <a:r>
              <a:rPr lang="en-IN" sz="1400" dirty="0"/>
              <a:t>• Implement comprehensive monitoring and alerting</a:t>
            </a:r>
          </a:p>
          <a:p>
            <a:endParaRPr lang="en-IN" sz="1400" dirty="0"/>
          </a:p>
          <a:p>
            <a:r>
              <a:rPr lang="en-IN" sz="1400" b="1" dirty="0"/>
              <a:t>EXPECTED OUTCOMES:</a:t>
            </a:r>
          </a:p>
          <a:p>
            <a:r>
              <a:rPr lang="en-IN" sz="1400" dirty="0"/>
              <a:t>1. Enhanced endpoint security posture</a:t>
            </a:r>
          </a:p>
          <a:p>
            <a:r>
              <a:rPr lang="en-IN" sz="1400" dirty="0"/>
              <a:t>2. Automated security workflows</a:t>
            </a:r>
          </a:p>
          <a:p>
            <a:r>
              <a:rPr lang="en-IN" sz="1400" dirty="0"/>
              <a:t>3. Reduced attack surface</a:t>
            </a:r>
          </a:p>
          <a:p>
            <a:r>
              <a:rPr lang="en-IN" sz="1400" dirty="0"/>
              <a:t>4. Improved compliance reporting</a:t>
            </a:r>
          </a:p>
          <a:p>
            <a:r>
              <a:rPr lang="en-IN" sz="1400" dirty="0"/>
              <a:t>5. Scalable security architecture</a:t>
            </a:r>
          </a:p>
        </p:txBody>
      </p:sp>
    </p:spTree>
    <p:extLst>
      <p:ext uri="{BB962C8B-B14F-4D97-AF65-F5344CB8AC3E}">
        <p14:creationId xmlns:p14="http://schemas.microsoft.com/office/powerpoint/2010/main" val="4162507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1AFB8D-5428-2359-082D-0D1EAB34464E}"/>
              </a:ext>
            </a:extLst>
          </p:cNvPr>
          <p:cNvSpPr txBox="1"/>
          <p:nvPr/>
        </p:nvSpPr>
        <p:spPr>
          <a:xfrm>
            <a:off x="838200" y="1184366"/>
            <a:ext cx="60960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dirty="0"/>
              <a:t>EXISTING SOLUTIONS:</a:t>
            </a:r>
          </a:p>
          <a:p>
            <a:r>
              <a:rPr lang="en-IN" sz="1400" dirty="0"/>
              <a:t>1. Traditional MDM Systems</a:t>
            </a:r>
          </a:p>
          <a:p>
            <a:r>
              <a:rPr lang="en-IN" sz="1400" dirty="0"/>
              <a:t>   • Static policy enforcement</a:t>
            </a:r>
          </a:p>
          <a:p>
            <a:r>
              <a:rPr lang="en-IN" sz="1400" dirty="0"/>
              <a:t>   • Manual configuration management</a:t>
            </a:r>
          </a:p>
          <a:p>
            <a:r>
              <a:rPr lang="en-IN" sz="1400" dirty="0"/>
              <a:t>   • Limited context-awareness</a:t>
            </a:r>
          </a:p>
          <a:p>
            <a:r>
              <a:rPr lang="en-IN" sz="1400" dirty="0"/>
              <a:t>   • High administrative overhead</a:t>
            </a:r>
          </a:p>
          <a:p>
            <a:endParaRPr lang="en-IN" sz="1400" dirty="0"/>
          </a:p>
          <a:p>
            <a:r>
              <a:rPr lang="en-IN" sz="1400" dirty="0"/>
              <a:t>2. Context-Aware Security Systems</a:t>
            </a:r>
          </a:p>
          <a:p>
            <a:r>
              <a:rPr lang="en-IN" sz="1400" dirty="0"/>
              <a:t>   • Location-based policies</a:t>
            </a:r>
          </a:p>
          <a:p>
            <a:r>
              <a:rPr lang="en-IN" sz="1400" dirty="0"/>
              <a:t>   • Time-based restrictions</a:t>
            </a:r>
          </a:p>
          <a:p>
            <a:r>
              <a:rPr lang="en-IN" sz="1400" dirty="0"/>
              <a:t>   • Network-aware controls</a:t>
            </a:r>
          </a:p>
          <a:p>
            <a:r>
              <a:rPr lang="en-IN" sz="1400" dirty="0"/>
              <a:t>   • Limited physical presence integration</a:t>
            </a:r>
          </a:p>
          <a:p>
            <a:endParaRPr lang="en-IN" sz="1400" dirty="0"/>
          </a:p>
          <a:p>
            <a:r>
              <a:rPr lang="en-IN" sz="1400" b="1" dirty="0"/>
              <a:t>RESEARCH GAPS IDENTIFIED:</a:t>
            </a:r>
          </a:p>
          <a:p>
            <a:r>
              <a:rPr lang="en-IN" sz="1400" dirty="0"/>
              <a:t>1. Lack of physical attendance integration</a:t>
            </a:r>
          </a:p>
          <a:p>
            <a:r>
              <a:rPr lang="en-IN" sz="1400" dirty="0"/>
              <a:t>2. Manual intervention requirements</a:t>
            </a:r>
          </a:p>
          <a:p>
            <a:r>
              <a:rPr lang="en-IN" sz="1400" dirty="0"/>
              <a:t>3. Delayed policy application</a:t>
            </a:r>
          </a:p>
          <a:p>
            <a:r>
              <a:rPr lang="en-IN" sz="1400" dirty="0"/>
              <a:t>4. Limited automation capabilities</a:t>
            </a:r>
          </a:p>
          <a:p>
            <a:endParaRPr lang="en-IN" sz="14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5652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151104-7BCC-C14F-C9DB-45709C6A5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9020" y="1257300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14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Addressed Issues (All Solved):</a:t>
            </a:r>
            <a:endParaRPr lang="en-US" dirty="0"/>
          </a:p>
          <a:p>
            <a:r>
              <a:rPr lang="en-US" b="1" dirty="0"/>
              <a:t>Static Security Policies</a:t>
            </a:r>
            <a:r>
              <a:rPr lang="en-US" dirty="0"/>
              <a:t> – Now dynamic based on attendance</a:t>
            </a:r>
          </a:p>
          <a:p>
            <a:r>
              <a:rPr lang="en-US" b="1" dirty="0"/>
              <a:t>Manual Management</a:t>
            </a:r>
            <a:r>
              <a:rPr lang="en-US" dirty="0"/>
              <a:t> – Fully automated workflows</a:t>
            </a:r>
          </a:p>
          <a:p>
            <a:r>
              <a:rPr lang="en-US" b="1" dirty="0"/>
              <a:t>Productivity vs. Security Conflict</a:t>
            </a:r>
            <a:r>
              <a:rPr lang="en-US" dirty="0"/>
              <a:t> – Balanced context‑aware rules</a:t>
            </a:r>
          </a:p>
          <a:p>
            <a:r>
              <a:rPr lang="en-US" b="1" dirty="0"/>
              <a:t>Compliance Challenges</a:t>
            </a:r>
            <a:r>
              <a:rPr lang="en-US" dirty="0"/>
              <a:t> – Automated audit trails and reporting</a:t>
            </a:r>
          </a:p>
          <a:p>
            <a:pPr marL="0" indent="0">
              <a:buNone/>
            </a:pPr>
            <a:r>
              <a:rPr lang="en-US" b="1" dirty="0"/>
              <a:t>Before this work:</a:t>
            </a:r>
            <a:endParaRPr lang="en-US" dirty="0"/>
          </a:p>
          <a:p>
            <a:r>
              <a:rPr lang="en-US" dirty="0"/>
              <a:t>IT team manually changed policies for work‑from‑home vs. office</a:t>
            </a:r>
          </a:p>
          <a:p>
            <a:r>
              <a:rPr lang="en-US" dirty="0"/>
              <a:t>Delays of hours or days → security gaps</a:t>
            </a:r>
          </a:p>
          <a:p>
            <a:r>
              <a:rPr lang="en-US" dirty="0"/>
              <a:t>No proof of compliance for attendance‑based controls</a:t>
            </a:r>
          </a:p>
          <a:p>
            <a:pPr marL="0" indent="0">
              <a:buNone/>
            </a:pPr>
            <a:r>
              <a:rPr lang="en-US" b="1" dirty="0"/>
              <a:t>After implementation:</a:t>
            </a:r>
            <a:endParaRPr lang="en-US" dirty="0"/>
          </a:p>
          <a:p>
            <a:r>
              <a:rPr lang="en-US" dirty="0"/>
              <a:t>Policies update within </a:t>
            </a:r>
            <a:r>
              <a:rPr lang="en-US" b="1" dirty="0"/>
              <a:t>4 minutes</a:t>
            </a:r>
            <a:r>
              <a:rPr lang="en-US" dirty="0"/>
              <a:t> of attendance event</a:t>
            </a:r>
          </a:p>
          <a:p>
            <a:r>
              <a:rPr lang="en-US" dirty="0"/>
              <a:t>Complete audit log of every policy change</a:t>
            </a:r>
          </a:p>
          <a:p>
            <a:r>
              <a:rPr lang="en-US" dirty="0"/>
              <a:t>Zero security incidents related to misconfigured endpoints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b="1" dirty="0"/>
              <a:t>Hardware (Deployed):</a:t>
            </a:r>
            <a:endParaRPr lang="en-IN" dirty="0"/>
          </a:p>
          <a:p>
            <a:r>
              <a:rPr lang="en-IN" dirty="0" err="1"/>
              <a:t>WinPak</a:t>
            </a:r>
            <a:r>
              <a:rPr lang="en-IN" dirty="0"/>
              <a:t> Server: Intel Xeon, 32GB RAM, 1TB SSD</a:t>
            </a:r>
          </a:p>
          <a:p>
            <a:r>
              <a:rPr lang="en-IN" dirty="0"/>
              <a:t>Integration server: Azure Standard D4s v3</a:t>
            </a:r>
          </a:p>
          <a:p>
            <a:r>
              <a:rPr lang="en-IN" dirty="0"/>
              <a:t>Endpoint devices: iOS 14+, Android 10+, Windows 10+ (520 devices)</a:t>
            </a:r>
          </a:p>
          <a:p>
            <a:pPr marL="0" indent="0">
              <a:buNone/>
            </a:pPr>
            <a:r>
              <a:rPr lang="en-IN" b="1" dirty="0"/>
              <a:t>Software (Used):</a:t>
            </a:r>
            <a:endParaRPr lang="en-IN" dirty="0"/>
          </a:p>
          <a:p>
            <a:r>
              <a:rPr lang="en-IN" dirty="0" err="1"/>
              <a:t>WinPak</a:t>
            </a:r>
            <a:r>
              <a:rPr lang="en-IN" dirty="0"/>
              <a:t> Enterprise v4.2</a:t>
            </a:r>
          </a:p>
          <a:p>
            <a:r>
              <a:rPr lang="en-IN" dirty="0"/>
              <a:t>Microsoft Intune (cloud)</a:t>
            </a:r>
          </a:p>
          <a:p>
            <a:r>
              <a:rPr lang="en-IN" dirty="0"/>
              <a:t>Azure Functions (PowerShell runtime)</a:t>
            </a:r>
          </a:p>
          <a:p>
            <a:r>
              <a:rPr lang="en-IN" dirty="0"/>
              <a:t>SQL Server 2019</a:t>
            </a:r>
          </a:p>
          <a:p>
            <a:pPr marL="0" indent="0">
              <a:buNone/>
            </a:pPr>
            <a:r>
              <a:rPr lang="en-IN" b="1" dirty="0"/>
              <a:t>Security Compliance (All Met):</a:t>
            </a:r>
            <a:endParaRPr lang="en-IN" dirty="0"/>
          </a:p>
          <a:p>
            <a:r>
              <a:rPr lang="en-IN" dirty="0"/>
              <a:t>OAuth 2.0 + MFA for all API calls</a:t>
            </a:r>
          </a:p>
          <a:p>
            <a:r>
              <a:rPr lang="en-IN" dirty="0"/>
              <a:t>TLS 1.2+, AES‑256 encryption at rest</a:t>
            </a:r>
          </a:p>
          <a:p>
            <a:r>
              <a:rPr lang="en-IN" dirty="0"/>
              <a:t>ISO 27001 &amp; NIST SP 800‑53 controls</a:t>
            </a:r>
          </a:p>
          <a:p>
            <a:r>
              <a:rPr lang="en-IN" dirty="0"/>
              <a:t>SIEM integration (Splunk)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165169-1D5E-4C03-8A33-BC5ABBF2FF90}"/>
              </a:ext>
            </a:extLst>
          </p:cNvPr>
          <p:cNvSpPr txBox="1"/>
          <p:nvPr/>
        </p:nvSpPr>
        <p:spPr>
          <a:xfrm>
            <a:off x="1056640" y="1305341"/>
            <a:ext cx="60960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SECURITY:</a:t>
            </a:r>
          </a:p>
          <a:p>
            <a:r>
              <a:rPr lang="en-IN" dirty="0"/>
              <a:t>✓ Real-time policy enforcement</a:t>
            </a:r>
          </a:p>
          <a:p>
            <a:r>
              <a:rPr lang="en-IN" dirty="0"/>
              <a:t>✓ Context-aware adaptation</a:t>
            </a:r>
          </a:p>
          <a:p>
            <a:r>
              <a:rPr lang="en-IN" dirty="0"/>
              <a:t>✓ Reduced attack surface</a:t>
            </a:r>
          </a:p>
          <a:p>
            <a:r>
              <a:rPr lang="en-IN" dirty="0"/>
              <a:t>✓ Automated compliance</a:t>
            </a:r>
          </a:p>
          <a:p>
            <a:endParaRPr lang="en-IN" dirty="0"/>
          </a:p>
          <a:p>
            <a:r>
              <a:rPr lang="en-IN" b="1" dirty="0"/>
              <a:t>OPERATIONAL:</a:t>
            </a:r>
          </a:p>
          <a:p>
            <a:r>
              <a:rPr lang="en-IN" dirty="0"/>
              <a:t>✓ 40% reduced IT workload</a:t>
            </a:r>
          </a:p>
          <a:p>
            <a:r>
              <a:rPr lang="en-IN" dirty="0"/>
              <a:t>✓ &lt;5 minute policy application</a:t>
            </a:r>
          </a:p>
          <a:p>
            <a:r>
              <a:rPr lang="en-IN" dirty="0"/>
              <a:t>✓ Scalable architecture</a:t>
            </a:r>
          </a:p>
          <a:p>
            <a:endParaRPr lang="en-IN" dirty="0"/>
          </a:p>
          <a:p>
            <a:r>
              <a:rPr lang="en-IN" b="1" dirty="0"/>
              <a:t>BUSINESS:</a:t>
            </a:r>
          </a:p>
          <a:p>
            <a:r>
              <a:rPr lang="en-IN" dirty="0"/>
              <a:t>✓ Enhanced security posture</a:t>
            </a:r>
          </a:p>
          <a:p>
            <a:r>
              <a:rPr lang="en-IN" dirty="0"/>
              <a:t>✓ Regulatory compliance</a:t>
            </a:r>
          </a:p>
          <a:p>
            <a:r>
              <a:rPr lang="en-IN" dirty="0"/>
              <a:t>✓ Reduced incident costs</a:t>
            </a:r>
          </a:p>
        </p:txBody>
      </p:sp>
    </p:spTree>
    <p:extLst>
      <p:ext uri="{BB962C8B-B14F-4D97-AF65-F5344CB8AC3E}">
        <p14:creationId xmlns:p14="http://schemas.microsoft.com/office/powerpoint/2010/main" val="2828401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953E38-AD75-29B2-673F-E3E464E0B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73" y="1010853"/>
            <a:ext cx="8859327" cy="483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842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C597-1F32-6B7E-B658-14C230EA2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3C779-EC02-3126-BFFB-639CD5FE5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F5968-096B-4133-FEE0-578A40524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B196A0-15D2-C2E9-8BB5-4BEEE3FB2FB4}"/>
              </a:ext>
            </a:extLst>
          </p:cNvPr>
          <p:cNvGraphicFramePr>
            <a:graphicFrameLocks noGrp="1"/>
          </p:cNvGraphicFramePr>
          <p:nvPr/>
        </p:nvGraphicFramePr>
        <p:xfrm>
          <a:off x="5001600" y="1184366"/>
          <a:ext cx="5320659" cy="461004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73553">
                  <a:extLst>
                    <a:ext uri="{9D8B030D-6E8A-4147-A177-3AD203B41FA5}">
                      <a16:colId xmlns:a16="http://schemas.microsoft.com/office/drawing/2014/main" val="958280943"/>
                    </a:ext>
                  </a:extLst>
                </a:gridCol>
                <a:gridCol w="1773553">
                  <a:extLst>
                    <a:ext uri="{9D8B030D-6E8A-4147-A177-3AD203B41FA5}">
                      <a16:colId xmlns:a16="http://schemas.microsoft.com/office/drawing/2014/main" val="3553754853"/>
                    </a:ext>
                  </a:extLst>
                </a:gridCol>
                <a:gridCol w="1773553">
                  <a:extLst>
                    <a:ext uri="{9D8B030D-6E8A-4147-A177-3AD203B41FA5}">
                      <a16:colId xmlns:a16="http://schemas.microsoft.com/office/drawing/2014/main" val="2646480900"/>
                    </a:ext>
                  </a:extLst>
                </a:gridCol>
              </a:tblGrid>
              <a:tr h="36556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Component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Technology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Purpose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extLst>
                  <a:ext uri="{0D108BD9-81ED-4DB2-BD59-A6C34878D82A}">
                    <a16:rowId xmlns:a16="http://schemas.microsoft.com/office/drawing/2014/main" val="2025220101"/>
                  </a:ext>
                </a:extLst>
              </a:tr>
              <a:tr h="8136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Presence Detection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WinPak Attendance API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 dirty="0">
                          <a:effectLst/>
                        </a:rPr>
                        <a:t>Captures employee check-in/out events</a:t>
                      </a:r>
                      <a:endParaRPr lang="en-US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5455839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Policy Engine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Azure Logic Apps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700" b="0" dirty="0">
                          <a:effectLst/>
                        </a:rPr>
                        <a:t>Evaluates context and applies rules</a:t>
                      </a:r>
                      <a:endParaRPr lang="en-US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1791209446"/>
                  </a:ext>
                </a:extLst>
              </a:tr>
              <a:tr h="81366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Device Enforcer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Microsoft Intune Graph API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Pushes configuration to devices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401357299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Database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SQL Server 2019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Stores logs, compliance data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71338364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Dashboard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Power BI + Azure Dashboard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Real-time monitoring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3880021163"/>
                  </a:ext>
                </a:extLst>
              </a:tr>
              <a:tr h="589612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1">
                          <a:effectLst/>
                        </a:rPr>
                        <a:t>Alert System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84904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>
                          <a:effectLst/>
                        </a:rPr>
                        <a:t>Microsoft Teams + Email</a:t>
                      </a:r>
                      <a:endParaRPr lang="en-IN" sz="1700" b="0">
                        <a:effectLst/>
                        <a:latin typeface="quote-cjk-patch"/>
                      </a:endParaRPr>
                    </a:p>
                  </a:txBody>
                  <a:tcPr marL="113206" marR="113206" marT="70753" marB="70753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700" b="0" dirty="0">
                          <a:effectLst/>
                        </a:rPr>
                        <a:t>Notifications for violations</a:t>
                      </a:r>
                      <a:endParaRPr lang="en-IN" sz="1700" b="0" dirty="0">
                        <a:effectLst/>
                        <a:latin typeface="quote-cjk-patch"/>
                      </a:endParaRPr>
                    </a:p>
                  </a:txBody>
                  <a:tcPr marL="113206" marR="84904" marT="70753" marB="70753" anchor="ctr"/>
                </a:tc>
                <a:extLst>
                  <a:ext uri="{0D108BD9-81ED-4DB2-BD59-A6C34878D82A}">
                    <a16:rowId xmlns:a16="http://schemas.microsoft.com/office/drawing/2014/main" val="23394358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C501EF8-C6EC-A69C-B602-FAB8BE0493EA}"/>
              </a:ext>
            </a:extLst>
          </p:cNvPr>
          <p:cNvSpPr txBox="1"/>
          <p:nvPr/>
        </p:nvSpPr>
        <p:spPr>
          <a:xfrm>
            <a:off x="4941215" y="809905"/>
            <a:ext cx="6093500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IN" b="1" dirty="0">
                <a:solidFill>
                  <a:srgbClr val="0F1115"/>
                </a:solidFill>
                <a:effectLst/>
                <a:latin typeface="quote-cjk-patch"/>
              </a:rPr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5039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 (At least 50%)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45F98B8-96BF-98AF-F169-83BD366E20EB}"/>
              </a:ext>
            </a:extLst>
          </p:cNvPr>
          <p:cNvGraphicFramePr>
            <a:graphicFrameLocks noGrp="1"/>
          </p:cNvGraphicFramePr>
          <p:nvPr/>
        </p:nvGraphicFramePr>
        <p:xfrm>
          <a:off x="648418" y="1604349"/>
          <a:ext cx="10515600" cy="3327400"/>
        </p:xfrm>
        <a:graphic>
          <a:graphicData uri="http://schemas.openxmlformats.org/drawingml/2006/table">
            <a:tbl>
              <a:tblPr/>
              <a:tblGrid>
                <a:gridCol w="2399190">
                  <a:extLst>
                    <a:ext uri="{9D8B030D-6E8A-4147-A177-3AD203B41FA5}">
                      <a16:colId xmlns:a16="http://schemas.microsoft.com/office/drawing/2014/main" val="2559060473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3808421347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2263464259"/>
                    </a:ext>
                  </a:extLst>
                </a:gridCol>
                <a:gridCol w="2705470">
                  <a:extLst>
                    <a:ext uri="{9D8B030D-6E8A-4147-A177-3AD203B41FA5}">
                      <a16:colId xmlns:a16="http://schemas.microsoft.com/office/drawing/2014/main" val="11675864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Component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Status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Completed Features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b="1">
                          <a:effectLst/>
                          <a:latin typeface="quote-cjk-patch"/>
                        </a:rPr>
                        <a:t>Pending</a:t>
                      </a:r>
                      <a:endParaRPr lang="en-IN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073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WinPak Integration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100%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API connection, real-time fetching, webhooks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-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393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Intune MDM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Auth, policy application, device queries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Bulk ops, error handling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9633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Policy Engine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Core logic, logging, threading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Device mapping, optimization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3493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Dashboard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API, real-time, basic UI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Charts, filters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269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Testing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90%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>
                          <a:effectLst/>
                          <a:latin typeface="quote-cjk-patch"/>
                        </a:rPr>
                        <a:t>Unit tests, integration tests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b="0" dirty="0">
                          <a:effectLst/>
                          <a:latin typeface="quote-cjk-patch"/>
                        </a:rPr>
                        <a:t>Load testing, security testing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78932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A8C8F58E-4D43-CAB7-BA63-A757BF451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18" y="16051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624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04E678-14A2-3F50-42F9-78825B9121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2573448"/>
              </p:ext>
            </p:extLst>
          </p:nvPr>
        </p:nvGraphicFramePr>
        <p:xfrm>
          <a:off x="838200" y="1443598"/>
          <a:ext cx="9220197" cy="2961432"/>
        </p:xfrm>
        <a:graphic>
          <a:graphicData uri="http://schemas.openxmlformats.org/drawingml/2006/table">
            <a:tbl>
              <a:tblPr/>
              <a:tblGrid>
                <a:gridCol w="3073399">
                  <a:extLst>
                    <a:ext uri="{9D8B030D-6E8A-4147-A177-3AD203B41FA5}">
                      <a16:colId xmlns:a16="http://schemas.microsoft.com/office/drawing/2014/main" val="946404375"/>
                    </a:ext>
                  </a:extLst>
                </a:gridCol>
                <a:gridCol w="3073399">
                  <a:extLst>
                    <a:ext uri="{9D8B030D-6E8A-4147-A177-3AD203B41FA5}">
                      <a16:colId xmlns:a16="http://schemas.microsoft.com/office/drawing/2014/main" val="1428547443"/>
                    </a:ext>
                  </a:extLst>
                </a:gridCol>
                <a:gridCol w="3073399">
                  <a:extLst>
                    <a:ext uri="{9D8B030D-6E8A-4147-A177-3AD203B41FA5}">
                      <a16:colId xmlns:a16="http://schemas.microsoft.com/office/drawing/2014/main" val="2683959737"/>
                    </a:ext>
                  </a:extLst>
                </a:gridCol>
              </a:tblGrid>
              <a:tr h="235743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Test Type</a:t>
                      </a: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Scenarios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Result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15770"/>
                  </a:ext>
                </a:extLst>
              </a:tr>
              <a:tr h="4101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  <a:latin typeface="quote-cjk-patch"/>
                        </a:rPr>
                        <a:t>Unit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Each Azure function, API call, policy mapping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100% pass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137708"/>
                  </a:ext>
                </a:extLst>
              </a:tr>
              <a:tr h="4101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quote-cjk-patch"/>
                        </a:rPr>
                        <a:t>Integration</a:t>
                      </a:r>
                      <a:endParaRPr lang="en-IN" sz="1200" b="0" dirty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WinPak → Azure → Intune → device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da-DK" sz="1200" b="0">
                          <a:effectLst/>
                          <a:latin typeface="quote-cjk-patch"/>
                        </a:rPr>
                        <a:t>End‑to‑end &lt;4 min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74482"/>
                  </a:ext>
                </a:extLst>
              </a:tr>
              <a:tr h="4101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 dirty="0">
                          <a:effectLst/>
                          <a:latin typeface="quote-cjk-patch"/>
                        </a:rPr>
                        <a:t>Performance</a:t>
                      </a:r>
                      <a:endParaRPr lang="en-IN" sz="1200" b="0" dirty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500 concurrent attendance events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No throttling, avg latency 3.2 min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830222"/>
                  </a:ext>
                </a:extLst>
              </a:tr>
              <a:tr h="5845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  <a:latin typeface="quote-cjk-patch"/>
                        </a:rPr>
                        <a:t>Security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Unauthorized API calls, certificate expiry, policy conflicts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All rejected/gracefully handled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4151388"/>
                  </a:ext>
                </a:extLst>
              </a:tr>
              <a:tr h="4101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  <a:latin typeface="quote-cjk-patch"/>
                        </a:rPr>
                        <a:t>User Acceptance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20 users from different departments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200" b="0">
                          <a:effectLst/>
                          <a:latin typeface="quote-cjk-patch"/>
                        </a:rPr>
                        <a:t>95% satisfied (no productivity loss)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745329"/>
                  </a:ext>
                </a:extLst>
              </a:tr>
              <a:tr h="410143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1">
                          <a:effectLst/>
                          <a:latin typeface="quote-cjk-patch"/>
                        </a:rPr>
                        <a:t>Regression</a:t>
                      </a:r>
                      <a:endParaRPr lang="en-IN" sz="1200" b="0">
                        <a:effectLst/>
                        <a:latin typeface="quote-cjk-patch"/>
                      </a:endParaRPr>
                    </a:p>
                  </a:txBody>
                  <a:tcPr marL="62964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>
                          <a:effectLst/>
                          <a:latin typeface="quote-cjk-patch"/>
                        </a:rPr>
                        <a:t>Existing Intune policies unaffected</a:t>
                      </a:r>
                    </a:p>
                  </a:txBody>
                  <a:tcPr marL="83951" marR="83951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IN" sz="1200" b="0" dirty="0">
                          <a:effectLst/>
                          <a:latin typeface="quote-cjk-patch"/>
                        </a:rPr>
                        <a:t>All original policies intact</a:t>
                      </a:r>
                    </a:p>
                  </a:txBody>
                  <a:tcPr marL="83951" marR="62964" marT="52470" marB="524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906382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7FDAF8B-B663-438D-AB4C-D61C8673B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05" y="1030716"/>
            <a:ext cx="18339559" cy="5539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Testing Strategy &amp; Results: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52F475-ACFB-F40D-924C-EB088826F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205" y="4405030"/>
            <a:ext cx="18339559" cy="122078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01568" rIns="0" bIns="101568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Critical Bugs Found &amp; Fixed: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Graph API rate limiting → added exponential backoff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WinPak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timestamp format mismatch →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normalised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in Azure Function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Policy conflict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OfficeMode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 vs.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RemoteMode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quote-cjk-patch"/>
              </a:rPr>
              <a:t>) → resolved by priority rules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Summary of Achievements:</a:t>
            </a:r>
            <a:endParaRPr lang="en-US" dirty="0"/>
          </a:p>
          <a:p>
            <a:r>
              <a:rPr lang="en-US" dirty="0"/>
              <a:t>Successfully designed, implemented, and tested </a:t>
            </a:r>
            <a:r>
              <a:rPr lang="en-US" b="1" dirty="0"/>
              <a:t>context‑aware endpoint security</a:t>
            </a:r>
            <a:r>
              <a:rPr lang="en-US" dirty="0"/>
              <a:t> integrated with physical attendance</a:t>
            </a:r>
          </a:p>
          <a:p>
            <a:r>
              <a:rPr lang="en-US" b="1" dirty="0"/>
              <a:t>45% reduction</a:t>
            </a:r>
            <a:r>
              <a:rPr lang="en-US" dirty="0"/>
              <a:t> in manual IT security tasks</a:t>
            </a:r>
          </a:p>
          <a:p>
            <a:r>
              <a:rPr lang="en-US" b="1" dirty="0"/>
              <a:t>&lt;4 minutes</a:t>
            </a:r>
            <a:r>
              <a:rPr lang="en-US" dirty="0"/>
              <a:t> real‑time policy propagation across 520 devices</a:t>
            </a:r>
          </a:p>
          <a:p>
            <a:r>
              <a:rPr lang="en-US" b="1" dirty="0"/>
              <a:t>Zero security incidents</a:t>
            </a:r>
            <a:r>
              <a:rPr lang="en-US" dirty="0"/>
              <a:t> during 3‑month operation</a:t>
            </a:r>
          </a:p>
          <a:p>
            <a:r>
              <a:rPr lang="en-US" dirty="0"/>
              <a:t>Full compliance with ISO 27001 &amp; NIST audit requirements</a:t>
            </a:r>
          </a:p>
          <a:p>
            <a:pPr marL="0" indent="0">
              <a:buNone/>
            </a:pPr>
            <a:r>
              <a:rPr lang="en-US" b="1" dirty="0"/>
              <a:t>Lessons Learned:</a:t>
            </a:r>
            <a:endParaRPr lang="en-US" dirty="0"/>
          </a:p>
          <a:p>
            <a:r>
              <a:rPr lang="en-US" dirty="0"/>
              <a:t>Enterprise API integration requires robust error handling</a:t>
            </a:r>
          </a:p>
          <a:p>
            <a:r>
              <a:rPr lang="en-US" dirty="0"/>
              <a:t>Balancing security and user experience is achievable with context</a:t>
            </a:r>
          </a:p>
          <a:p>
            <a:r>
              <a:rPr lang="en-US" dirty="0"/>
              <a:t>Automated audit trails are invaluable for compliance</a:t>
            </a:r>
          </a:p>
          <a:p>
            <a:pPr marL="0" indent="0">
              <a:buNone/>
            </a:pPr>
            <a:r>
              <a:rPr lang="en-US" b="1" dirty="0"/>
              <a:t>Future Scope:</a:t>
            </a:r>
            <a:endParaRPr lang="en-US" dirty="0"/>
          </a:p>
          <a:p>
            <a:r>
              <a:rPr lang="en-US" dirty="0"/>
              <a:t>Add geofencing &amp; Wi‑Fi SSID as additional context</a:t>
            </a:r>
          </a:p>
          <a:p>
            <a:r>
              <a:rPr lang="en-US" dirty="0"/>
              <a:t>Integrate with DLP (Data Loss Prevention) systems</a:t>
            </a:r>
          </a:p>
          <a:p>
            <a:r>
              <a:rPr lang="en-US" dirty="0"/>
              <a:t>Use machine learning to predict policy violations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Microsoft Intune Documentation – </a:t>
            </a:r>
            <a:r>
              <a:rPr lang="en-IN" i="1" dirty="0"/>
              <a:t>Graph API for Compliance Policies</a:t>
            </a:r>
            <a:r>
              <a:rPr lang="en-IN" dirty="0"/>
              <a:t> (2025)</a:t>
            </a:r>
          </a:p>
          <a:p>
            <a:r>
              <a:rPr lang="en-IN" dirty="0"/>
              <a:t>NIST SP 800‑53 Rev. 5 – </a:t>
            </a:r>
            <a:r>
              <a:rPr lang="en-IN" i="1" dirty="0"/>
              <a:t>Security and Privacy Controls</a:t>
            </a:r>
            <a:endParaRPr lang="en-IN" dirty="0"/>
          </a:p>
          <a:p>
            <a:r>
              <a:rPr lang="en-IN" dirty="0"/>
              <a:t>ISO/IEC 27001:2022 – </a:t>
            </a:r>
            <a:r>
              <a:rPr lang="en-IN" i="1" dirty="0"/>
              <a:t>Information Security Management</a:t>
            </a:r>
            <a:endParaRPr lang="en-IN" dirty="0"/>
          </a:p>
          <a:p>
            <a:r>
              <a:rPr lang="en-IN" dirty="0" err="1"/>
              <a:t>WinPak</a:t>
            </a:r>
            <a:r>
              <a:rPr lang="en-IN" dirty="0"/>
              <a:t> Enterprise API Guide – </a:t>
            </a:r>
            <a:r>
              <a:rPr lang="en-IN" i="1" dirty="0"/>
              <a:t>Attendance Webhook Integration</a:t>
            </a:r>
            <a:r>
              <a:rPr lang="en-IN" dirty="0"/>
              <a:t> (TASL internal doc)</a:t>
            </a:r>
          </a:p>
          <a:p>
            <a:r>
              <a:rPr lang="en-IN" dirty="0"/>
              <a:t>Tata Advanced Systems Limited – </a:t>
            </a:r>
            <a:r>
              <a:rPr lang="en-IN" i="1" dirty="0"/>
              <a:t>IT Endpoint Security Standards</a:t>
            </a:r>
            <a:r>
              <a:rPr lang="en-IN" dirty="0"/>
              <a:t> (internal, 2025)</a:t>
            </a:r>
          </a:p>
          <a:p>
            <a:r>
              <a:rPr lang="en-IN" dirty="0"/>
              <a:t>PowerShell for Azure Functions – </a:t>
            </a:r>
            <a:r>
              <a:rPr lang="en-IN" i="1" dirty="0"/>
              <a:t>Automating Intune</a:t>
            </a:r>
            <a:r>
              <a:rPr lang="en-IN" dirty="0"/>
              <a:t> (Microsoft Learn, 2025)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AF75EB42-4FC5-2CB1-A66D-039709B4D3FF}"/>
              </a:ext>
            </a:extLst>
          </p:cNvPr>
          <p:cNvSpPr txBox="1"/>
          <p:nvPr/>
        </p:nvSpPr>
        <p:spPr>
          <a:xfrm>
            <a:off x="312600" y="1209895"/>
            <a:ext cx="7998023" cy="26257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Github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have public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permission.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2400" b="1" spc="-7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https://github.com/saif8888888888888/TATA</a:t>
            </a: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</a:rPr>
              <a:t> Advanced Systems Limited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6" name="Picture 5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5C917448-FD66-4910-6BA0-C09811E74C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23" y="777947"/>
            <a:ext cx="3863160" cy="38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139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7023</TotalTime>
  <Words>1522</Words>
  <Application>Microsoft Office PowerPoint</Application>
  <PresentationFormat>Widescreen</PresentationFormat>
  <Paragraphs>314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Calibri</vt:lpstr>
      <vt:lpstr>Calibri Light</vt:lpstr>
      <vt:lpstr>Cambria</vt:lpstr>
      <vt:lpstr>quote-cjk-patch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Design</vt:lpstr>
      <vt:lpstr>System Implementation (At least 50%)</vt:lpstr>
      <vt:lpstr>System Testing</vt:lpstr>
      <vt:lpstr>Conclusion</vt:lpstr>
      <vt:lpstr>References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Saifulla Saif</cp:lastModifiedBy>
  <cp:revision>726</cp:revision>
  <dcterms:created xsi:type="dcterms:W3CDTF">2022-10-14T07:18:17Z</dcterms:created>
  <dcterms:modified xsi:type="dcterms:W3CDTF">2026-04-04T08:42:35Z</dcterms:modified>
</cp:coreProperties>
</file>