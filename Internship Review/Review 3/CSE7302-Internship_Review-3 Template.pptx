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9" r:id="rId2"/>
    <p:sldId id="270" r:id="rId3"/>
    <p:sldId id="261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76" r:id="rId15"/>
    <p:sldId id="288" r:id="rId16"/>
    <p:sldId id="277" r:id="rId17"/>
    <p:sldId id="289" r:id="rId18"/>
    <p:sldId id="290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49" d="100"/>
          <a:sy n="49" d="100"/>
        </p:scale>
        <p:origin x="91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IN" b="0" dirty="0"/>
            <a:t>REVIEW-1 (Weeks 1-4):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pPr>
            <a:buNone/>
          </a:pPr>
          <a:r>
            <a:rPr lang="en-IN" b="0" dirty="0"/>
            <a:t>REVIEW-2 (Weeks 5-8):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/>
      <dgm:spPr/>
      <dgm:t>
        <a:bodyPr/>
        <a:lstStyle/>
        <a:p>
          <a:pPr>
            <a:buNone/>
          </a:pPr>
          <a:r>
            <a:rPr lang="en-IN" b="0" dirty="0"/>
            <a:t>REVIEW-3 (Weeks 9-12):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F8A6B156-8162-416A-8F90-C610C8FE9D08}">
      <dgm:prSet/>
      <dgm:spPr/>
      <dgm:t>
        <a:bodyPr/>
        <a:lstStyle/>
        <a:p>
          <a:pPr>
            <a:buNone/>
          </a:pPr>
          <a:r>
            <a:rPr lang="en-IN" b="0" dirty="0"/>
            <a:t>✓ Orientation &amp; requirement analysis</a:t>
          </a:r>
        </a:p>
      </dgm:t>
    </dgm:pt>
    <dgm:pt modelId="{71614727-69C9-4B10-9633-B5729724C423}" type="parTrans" cxnId="{57E91ACC-B76A-4A2A-B470-58C67044BCF0}">
      <dgm:prSet/>
      <dgm:spPr/>
      <dgm:t>
        <a:bodyPr/>
        <a:lstStyle/>
        <a:p>
          <a:endParaRPr lang="en-IN"/>
        </a:p>
      </dgm:t>
    </dgm:pt>
    <dgm:pt modelId="{00783C49-1D36-47D5-ACC4-D1C336CCF834}" type="sibTrans" cxnId="{57E91ACC-B76A-4A2A-B470-58C67044BCF0}">
      <dgm:prSet/>
      <dgm:spPr/>
      <dgm:t>
        <a:bodyPr/>
        <a:lstStyle/>
        <a:p>
          <a:endParaRPr lang="en-IN"/>
        </a:p>
      </dgm:t>
    </dgm:pt>
    <dgm:pt modelId="{869696E8-EDBD-4375-81A1-8611EAE61C00}">
      <dgm:prSet/>
      <dgm:spPr/>
      <dgm:t>
        <a:bodyPr/>
        <a:lstStyle/>
        <a:p>
          <a:pPr>
            <a:buNone/>
          </a:pPr>
          <a:r>
            <a:rPr lang="en-IN" b="0" dirty="0"/>
            <a:t>✓ Microsoft Intune tool Learning</a:t>
          </a:r>
        </a:p>
      </dgm:t>
    </dgm:pt>
    <dgm:pt modelId="{81398F84-D359-4D08-8BB1-54A9D0FE99CD}" type="parTrans" cxnId="{549009CF-328A-40E4-B83D-93739CC0E7BE}">
      <dgm:prSet/>
      <dgm:spPr/>
      <dgm:t>
        <a:bodyPr/>
        <a:lstStyle/>
        <a:p>
          <a:endParaRPr lang="en-IN"/>
        </a:p>
      </dgm:t>
    </dgm:pt>
    <dgm:pt modelId="{D7018C83-8F41-485E-8501-E40B22BE631E}" type="sibTrans" cxnId="{549009CF-328A-40E4-B83D-93739CC0E7BE}">
      <dgm:prSet/>
      <dgm:spPr/>
      <dgm:t>
        <a:bodyPr/>
        <a:lstStyle/>
        <a:p>
          <a:endParaRPr lang="en-IN"/>
        </a:p>
      </dgm:t>
    </dgm:pt>
    <dgm:pt modelId="{1585F75B-7943-4B08-93C4-4DA6CBA27A16}">
      <dgm:prSet/>
      <dgm:spPr/>
      <dgm:t>
        <a:bodyPr/>
        <a:lstStyle/>
        <a:p>
          <a:pPr>
            <a:buNone/>
          </a:pPr>
          <a:r>
            <a:rPr lang="en-IN" b="0" dirty="0"/>
            <a:t>✓ </a:t>
          </a:r>
          <a:r>
            <a:rPr lang="en-IN" b="0" dirty="0" err="1"/>
            <a:t>Winpak</a:t>
          </a:r>
          <a:r>
            <a:rPr lang="en-IN" b="0" dirty="0"/>
            <a:t> Honeywell Learning</a:t>
          </a:r>
        </a:p>
      </dgm:t>
    </dgm:pt>
    <dgm:pt modelId="{915E0793-7164-41B9-B661-476C098F10D2}" type="parTrans" cxnId="{1BF3E7A2-6AF3-40AD-A2A5-998FE2D642E9}">
      <dgm:prSet/>
      <dgm:spPr/>
      <dgm:t>
        <a:bodyPr/>
        <a:lstStyle/>
        <a:p>
          <a:endParaRPr lang="en-IN"/>
        </a:p>
      </dgm:t>
    </dgm:pt>
    <dgm:pt modelId="{2A79A735-89D3-4C42-A031-9F56E6EA949F}" type="sibTrans" cxnId="{1BF3E7A2-6AF3-40AD-A2A5-998FE2D642E9}">
      <dgm:prSet/>
      <dgm:spPr/>
      <dgm:t>
        <a:bodyPr/>
        <a:lstStyle/>
        <a:p>
          <a:endParaRPr lang="en-IN"/>
        </a:p>
      </dgm:t>
    </dgm:pt>
    <dgm:pt modelId="{5E7E6FCB-A887-46C1-A788-DA881003AE44}">
      <dgm:prSet/>
      <dgm:spPr/>
      <dgm:t>
        <a:bodyPr/>
        <a:lstStyle/>
        <a:p>
          <a:pPr>
            <a:buNone/>
          </a:pPr>
          <a:r>
            <a:rPr lang="en-IN" b="0" dirty="0"/>
            <a:t>✓ Graph API Testing</a:t>
          </a:r>
        </a:p>
      </dgm:t>
    </dgm:pt>
    <dgm:pt modelId="{A5057606-8C8A-47BD-BD2F-4A15E100A3D7}" type="parTrans" cxnId="{94F8ED4D-1B1B-4096-A7A7-8FEF7859361D}">
      <dgm:prSet/>
      <dgm:spPr/>
      <dgm:t>
        <a:bodyPr/>
        <a:lstStyle/>
        <a:p>
          <a:endParaRPr lang="en-IN"/>
        </a:p>
      </dgm:t>
    </dgm:pt>
    <dgm:pt modelId="{42220688-9A13-44A3-8821-9BD2A53F7025}" type="sibTrans" cxnId="{94F8ED4D-1B1B-4096-A7A7-8FEF7859361D}">
      <dgm:prSet/>
      <dgm:spPr/>
      <dgm:t>
        <a:bodyPr/>
        <a:lstStyle/>
        <a:p>
          <a:endParaRPr lang="en-IN"/>
        </a:p>
      </dgm:t>
    </dgm:pt>
    <dgm:pt modelId="{E78EB800-61D6-48CE-83DB-665AC6E304CD}">
      <dgm:prSet/>
      <dgm:spPr/>
      <dgm:t>
        <a:bodyPr/>
        <a:lstStyle/>
        <a:p>
          <a:pPr>
            <a:buNone/>
          </a:pPr>
          <a:r>
            <a:rPr lang="en-IN" b="0" dirty="0"/>
            <a:t>✓ Testing setup</a:t>
          </a:r>
        </a:p>
      </dgm:t>
    </dgm:pt>
    <dgm:pt modelId="{2136F7ED-A81B-4153-BF7D-D2795784A797}" type="parTrans" cxnId="{BE5CFBF9-1F80-47E4-BEFC-349F3931EACA}">
      <dgm:prSet/>
      <dgm:spPr/>
      <dgm:t>
        <a:bodyPr/>
        <a:lstStyle/>
        <a:p>
          <a:endParaRPr lang="en-IN"/>
        </a:p>
      </dgm:t>
    </dgm:pt>
    <dgm:pt modelId="{EC09FC49-92DB-4A37-AF62-69BBB1F0C066}" type="sibTrans" cxnId="{BE5CFBF9-1F80-47E4-BEFC-349F3931EACA}">
      <dgm:prSet/>
      <dgm:spPr/>
      <dgm:t>
        <a:bodyPr/>
        <a:lstStyle/>
        <a:p>
          <a:endParaRPr lang="en-IN"/>
        </a:p>
      </dgm:t>
    </dgm:pt>
    <dgm:pt modelId="{00C9FDF2-6659-4C96-B7BE-3F77816D56FE}">
      <dgm:prSet/>
      <dgm:spPr/>
      <dgm:t>
        <a:bodyPr/>
        <a:lstStyle/>
        <a:p>
          <a:pPr>
            <a:buNone/>
          </a:pPr>
          <a:r>
            <a:rPr lang="en-IN" b="0" dirty="0"/>
            <a:t>✓Complete Device Enrolled</a:t>
          </a:r>
        </a:p>
      </dgm:t>
    </dgm:pt>
    <dgm:pt modelId="{FD4B8218-751A-4031-B24B-8A4B6F7AC869}" type="parTrans" cxnId="{E8EEE564-DE30-4FD1-A926-167F9E235B82}">
      <dgm:prSet/>
      <dgm:spPr/>
      <dgm:t>
        <a:bodyPr/>
        <a:lstStyle/>
        <a:p>
          <a:endParaRPr lang="en-IN"/>
        </a:p>
      </dgm:t>
    </dgm:pt>
    <dgm:pt modelId="{0B3C5211-C37F-48F5-B6A2-D85EE17DB0B1}" type="sibTrans" cxnId="{E8EEE564-DE30-4FD1-A926-167F9E235B82}">
      <dgm:prSet/>
      <dgm:spPr/>
      <dgm:t>
        <a:bodyPr/>
        <a:lstStyle/>
        <a:p>
          <a:endParaRPr lang="en-IN"/>
        </a:p>
      </dgm:t>
    </dgm:pt>
    <dgm:pt modelId="{E34C5132-4594-413C-BBF9-EE9D05F1CD18}">
      <dgm:prSet/>
      <dgm:spPr/>
      <dgm:t>
        <a:bodyPr/>
        <a:lstStyle/>
        <a:p>
          <a:pPr>
            <a:buNone/>
          </a:pPr>
          <a:r>
            <a:rPr lang="en-IN" b="0" dirty="0"/>
            <a:t>✓Security assessment</a:t>
          </a:r>
        </a:p>
      </dgm:t>
    </dgm:pt>
    <dgm:pt modelId="{12F3BADC-7454-4ECF-BFBA-34D1854AEBB7}" type="parTrans" cxnId="{55C2B021-4CE2-464D-922E-F0BEDA4AD1D2}">
      <dgm:prSet/>
      <dgm:spPr/>
      <dgm:t>
        <a:bodyPr/>
        <a:lstStyle/>
        <a:p>
          <a:endParaRPr lang="en-IN"/>
        </a:p>
      </dgm:t>
    </dgm:pt>
    <dgm:pt modelId="{AD7331FD-7002-4DA8-8BE1-BF92C5468E01}" type="sibTrans" cxnId="{55C2B021-4CE2-464D-922E-F0BEDA4AD1D2}">
      <dgm:prSet/>
      <dgm:spPr/>
      <dgm:t>
        <a:bodyPr/>
        <a:lstStyle/>
        <a:p>
          <a:endParaRPr lang="en-IN"/>
        </a:p>
      </dgm:t>
    </dgm:pt>
    <dgm:pt modelId="{4F4FEC9E-DBE1-4892-9A8B-2725D626A280}">
      <dgm:prSet/>
      <dgm:spPr/>
      <dgm:t>
        <a:bodyPr/>
        <a:lstStyle/>
        <a:p>
          <a:pPr>
            <a:buNone/>
          </a:pPr>
          <a:r>
            <a:rPr lang="en-IN" b="0" dirty="0"/>
            <a:t>✓User testing</a:t>
          </a:r>
        </a:p>
      </dgm:t>
    </dgm:pt>
    <dgm:pt modelId="{B4C3735B-0400-4B5D-9A5E-2AA1F054F259}" type="parTrans" cxnId="{65740BC2-D182-4DEF-8631-C2ABF3E2850B}">
      <dgm:prSet/>
      <dgm:spPr/>
      <dgm:t>
        <a:bodyPr/>
        <a:lstStyle/>
        <a:p>
          <a:endParaRPr lang="en-IN"/>
        </a:p>
      </dgm:t>
    </dgm:pt>
    <dgm:pt modelId="{A8B5B095-7CC2-4388-88B7-294197AB7692}" type="sibTrans" cxnId="{65740BC2-D182-4DEF-8631-C2ABF3E2850B}">
      <dgm:prSet/>
      <dgm:spPr/>
      <dgm:t>
        <a:bodyPr/>
        <a:lstStyle/>
        <a:p>
          <a:endParaRPr lang="en-IN"/>
        </a:p>
      </dgm:t>
    </dgm:pt>
    <dgm:pt modelId="{426CE804-FB35-45D3-A85F-A3F00A32A239}">
      <dgm:prSet/>
      <dgm:spPr/>
      <dgm:t>
        <a:bodyPr/>
        <a:lstStyle/>
        <a:p>
          <a:pPr>
            <a:buNone/>
          </a:pPr>
          <a:r>
            <a:rPr lang="en-IN" b="0" dirty="0"/>
            <a:t>✓Final handover</a:t>
          </a:r>
        </a:p>
      </dgm:t>
    </dgm:pt>
    <dgm:pt modelId="{3ACC0D3D-2A5A-4057-92C0-7F026D50DE52}" type="parTrans" cxnId="{AA58D5BD-EEAD-4522-9623-7720D9DA9E35}">
      <dgm:prSet/>
      <dgm:spPr/>
      <dgm:t>
        <a:bodyPr/>
        <a:lstStyle/>
        <a:p>
          <a:endParaRPr lang="en-IN"/>
        </a:p>
      </dgm:t>
    </dgm:pt>
    <dgm:pt modelId="{CA61C87B-CB4C-4DDE-AD55-EC48B3390406}" type="sibTrans" cxnId="{AA58D5BD-EEAD-4522-9623-7720D9DA9E35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4948403-3959-4A2A-9994-F281A75771D1}" type="presOf" srcId="{1585F75B-7943-4B08-93C4-4DA6CBA27A16}" destId="{06F8D57B-EDF4-4CF4-8700-DC2CA3E3028E}" srcOrd="0" destOrd="1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7E4E8119-41A6-4944-8668-F60446CDD9E3}" type="presOf" srcId="{5E7E6FCB-A887-46C1-A788-DA881003AE44}" destId="{6BCCFBA6-7A43-4631-AD7F-AFB10E1E6CD7}" srcOrd="1" destOrd="2" presId="urn:microsoft.com/office/officeart/2011/layout/InterconnectedBlockProcess"/>
    <dgm:cxn modelId="{B5DD9B1F-10B3-46C5-95D2-1DA81EFDC8DC}" type="presOf" srcId="{E34C5132-4594-413C-BBF9-EE9D05F1CD18}" destId="{0D08ED52-6744-4369-B780-916B09984775}" srcOrd="1" destOrd="2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55C2B021-4CE2-464D-922E-F0BEDA4AD1D2}" srcId="{A59EC69B-8F3F-425B-819F-E8C557946AEE}" destId="{E34C5132-4594-413C-BBF9-EE9D05F1CD18}" srcOrd="2" destOrd="0" parTransId="{12F3BADC-7454-4ECF-BFBA-34D1854AEBB7}" sibTransId="{AD7331FD-7002-4DA8-8BE1-BF92C5468E01}"/>
    <dgm:cxn modelId="{9B01BC3D-64E0-44C8-BD79-E13DB45FD0E9}" type="presOf" srcId="{E78EB800-61D6-48CE-83DB-665AC6E304CD}" destId="{6BCCFBA6-7A43-4631-AD7F-AFB10E1E6CD7}" srcOrd="1" destOrd="3" presId="urn:microsoft.com/office/officeart/2011/layout/InterconnectedBlockProcess"/>
    <dgm:cxn modelId="{67ED7E3E-C443-4C61-8009-BB71B9DD9B67}" type="presOf" srcId="{426CE804-FB35-45D3-A85F-A3F00A32A239}" destId="{0D08ED52-6744-4369-B780-916B09984775}" srcOrd="1" destOrd="4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EDB0D960-D065-4309-8BF4-1103EBF7A1BC}" type="presOf" srcId="{4F4FEC9E-DBE1-4892-9A8B-2725D626A280}" destId="{2532504F-5FE1-4C97-B485-F05E8885EACC}" srcOrd="0" destOrd="3" presId="urn:microsoft.com/office/officeart/2011/layout/InterconnectedBlockProcess"/>
    <dgm:cxn modelId="{E8EEE564-DE30-4FD1-A926-167F9E235B82}" srcId="{A59EC69B-8F3F-425B-819F-E8C557946AEE}" destId="{00C9FDF2-6659-4C96-B7BE-3F77816D56FE}" srcOrd="1" destOrd="0" parTransId="{FD4B8218-751A-4031-B24B-8A4B6F7AC869}" sibTransId="{0B3C5211-C37F-48F5-B6A2-D85EE17DB0B1}"/>
    <dgm:cxn modelId="{C525854A-C906-4022-81C3-54872152F633}" type="presOf" srcId="{E34C5132-4594-413C-BBF9-EE9D05F1CD18}" destId="{2532504F-5FE1-4C97-B485-F05E8885EACC}" srcOrd="0" destOrd="2" presId="urn:microsoft.com/office/officeart/2011/layout/InterconnectedBlockProcess"/>
    <dgm:cxn modelId="{F984484C-0478-44F9-8B73-136E0A30059D}" type="presOf" srcId="{5E7E6FCB-A887-46C1-A788-DA881003AE44}" destId="{06F8D57B-EDF4-4CF4-8700-DC2CA3E3028E}" srcOrd="0" destOrd="2" presId="urn:microsoft.com/office/officeart/2011/layout/InterconnectedBlockProcess"/>
    <dgm:cxn modelId="{5BC6E16C-941D-45B1-B3AA-03403B10D235}" type="presOf" srcId="{00C9FDF2-6659-4C96-B7BE-3F77816D56FE}" destId="{2532504F-5FE1-4C97-B485-F05E8885EACC}" srcOrd="0" destOrd="1" presId="urn:microsoft.com/office/officeart/2011/layout/InterconnectedBlockProcess"/>
    <dgm:cxn modelId="{7939C46D-7736-4998-AF1D-C867C4C6833A}" type="presOf" srcId="{4F4FEC9E-DBE1-4892-9A8B-2725D626A280}" destId="{0D08ED52-6744-4369-B780-916B09984775}" srcOrd="1" destOrd="3" presId="urn:microsoft.com/office/officeart/2011/layout/InterconnectedBlockProcess"/>
    <dgm:cxn modelId="{94F8ED4D-1B1B-4096-A7A7-8FEF7859361D}" srcId="{7B3055AA-BF7C-46D0-9A9E-60087B9F57B4}" destId="{5E7E6FCB-A887-46C1-A788-DA881003AE44}" srcOrd="2" destOrd="0" parTransId="{A5057606-8C8A-47BD-BD2F-4A15E100A3D7}" sibTransId="{42220688-9A13-44A3-8821-9BD2A53F7025}"/>
    <dgm:cxn modelId="{A3CCA86E-E9EB-4C36-95CF-C40E377665DD}" type="presOf" srcId="{869696E8-EDBD-4375-81A1-8611EAE61C00}" destId="{A134CDD1-D85F-44EF-8BEE-9F99A855C1E6}" srcOrd="0" destOrd="2" presId="urn:microsoft.com/office/officeart/2011/layout/InterconnectedBlockProcess"/>
    <dgm:cxn modelId="{D39DCD4E-2ACF-423E-AB80-A823E0B11413}" type="presOf" srcId="{869696E8-EDBD-4375-81A1-8611EAE61C00}" destId="{1C91D7E3-8940-4A33-9182-677DD5415901}" srcOrd="1" destOrd="2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D6204377-C5C6-4761-A328-03F6FC916783}" type="presOf" srcId="{426CE804-FB35-45D3-A85F-A3F00A32A239}" destId="{2532504F-5FE1-4C97-B485-F05E8885EACC}" srcOrd="0" destOrd="4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0BA87491-5FC7-4B85-BA56-90EA0D899C0D}" type="presOf" srcId="{F8A6B156-8162-416A-8F90-C610C8FE9D08}" destId="{A134CDD1-D85F-44EF-8BEE-9F99A855C1E6}" srcOrd="0" destOrd="1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71E76F96-76B8-4FC9-A702-235693FC7C1B}" type="presOf" srcId="{00C9FDF2-6659-4C96-B7BE-3F77816D56FE}" destId="{0D08ED52-6744-4369-B780-916B09984775}" srcOrd="1" destOrd="1" presId="urn:microsoft.com/office/officeart/2011/layout/InterconnectedBlockProcess"/>
    <dgm:cxn modelId="{FCA36798-B6F9-4782-9D63-F5772C3A9144}" type="presOf" srcId="{F8A6B156-8162-416A-8F90-C610C8FE9D08}" destId="{1C91D7E3-8940-4A33-9182-677DD5415901}" srcOrd="1" destOrd="1" presId="urn:microsoft.com/office/officeart/2011/layout/InterconnectedBlockProcess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1BF3E7A2-6AF3-40AD-A2A5-998FE2D642E9}" srcId="{7B3055AA-BF7C-46D0-9A9E-60087B9F57B4}" destId="{1585F75B-7943-4B08-93C4-4DA6CBA27A16}" srcOrd="1" destOrd="0" parTransId="{915E0793-7164-41B9-B661-476C098F10D2}" sibTransId="{2A79A735-89D3-4C42-A031-9F56E6EA949F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AA58D5BD-EEAD-4522-9623-7720D9DA9E35}" srcId="{A59EC69B-8F3F-425B-819F-E8C557946AEE}" destId="{426CE804-FB35-45D3-A85F-A3F00A32A239}" srcOrd="4" destOrd="0" parTransId="{3ACC0D3D-2A5A-4057-92C0-7F026D50DE52}" sibTransId="{CA61C87B-CB4C-4DDE-AD55-EC48B3390406}"/>
    <dgm:cxn modelId="{65740BC2-D182-4DEF-8631-C2ABF3E2850B}" srcId="{A59EC69B-8F3F-425B-819F-E8C557946AEE}" destId="{4F4FEC9E-DBE1-4892-9A8B-2725D626A280}" srcOrd="3" destOrd="0" parTransId="{B4C3735B-0400-4B5D-9A5E-2AA1F054F259}" sibTransId="{A8B5B095-7CC2-4388-88B7-294197AB7692}"/>
    <dgm:cxn modelId="{57E91ACC-B76A-4A2A-B470-58C67044BCF0}" srcId="{988D96B0-D16E-4763-B393-84178CF4FF50}" destId="{F8A6B156-8162-416A-8F90-C610C8FE9D08}" srcOrd="1" destOrd="0" parTransId="{71614727-69C9-4B10-9633-B5729724C423}" sibTransId="{00783C49-1D36-47D5-ACC4-D1C336CCF834}"/>
    <dgm:cxn modelId="{549009CF-328A-40E4-B83D-93739CC0E7BE}" srcId="{988D96B0-D16E-4763-B393-84178CF4FF50}" destId="{869696E8-EDBD-4375-81A1-8611EAE61C00}" srcOrd="2" destOrd="0" parTransId="{81398F84-D359-4D08-8BB1-54A9D0FE99CD}" sibTransId="{D7018C83-8F41-485E-8501-E40B22BE631E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5E9A98D5-8FE6-4C0D-AE47-F56CDC619232}" type="presOf" srcId="{E78EB800-61D6-48CE-83DB-665AC6E304CD}" destId="{06F8D57B-EDF4-4CF4-8700-DC2CA3E3028E}" srcOrd="0" destOrd="3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2B26BCF2-F72A-4E67-BA07-134526A3C489}" type="presOf" srcId="{1585F75B-7943-4B08-93C4-4DA6CBA27A16}" destId="{6BCCFBA6-7A43-4631-AD7F-AFB10E1E6CD7}" srcOrd="1" destOrd="1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E5CFBF9-1F80-47E4-BEFC-349F3931EACA}" srcId="{7B3055AA-BF7C-46D0-9A9E-60087B9F57B4}" destId="{E78EB800-61D6-48CE-83DB-665AC6E304CD}" srcOrd="3" destOrd="0" parTransId="{2136F7ED-A81B-4153-BF7D-D2795784A797}" sibTransId="{EC09FC49-92DB-4A37-AF62-69BBB1F0C066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REVIEW-3 (Weeks 9-12):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✓Complete Device Enrolled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✓Security assessment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✓User testing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✓Final handover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REVIEW-2 (Weeks 5-8):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 </a:t>
          </a:r>
          <a:r>
            <a:rPr lang="en-IN" sz="1400" b="0" kern="1200" dirty="0" err="1"/>
            <a:t>Winpak</a:t>
          </a:r>
          <a:r>
            <a:rPr lang="en-IN" sz="1400" b="0" kern="1200" dirty="0"/>
            <a:t> Honeywell Learning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 Graph API Testing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 Testing setup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REVIEW-1 (Weeks 1-4):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 Orientation &amp; requirement analysis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kern="1200" dirty="0"/>
            <a:t>✓ Microsoft Intune tool Learning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28/02/2026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28-02-2026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saif8888888888888/TATA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Cyber Security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: Dr.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Anandraj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Sp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Sharmasth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Vali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Review-3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INTERNSHIP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502733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Syed Saifulla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20231CCS3004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8CCS02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74FE2-376B-79E0-1C28-F01B3CE13B07}"/>
              </a:ext>
            </a:extLst>
          </p:cNvPr>
          <p:cNvSpPr txBox="1"/>
          <p:nvPr/>
        </p:nvSpPr>
        <p:spPr>
          <a:xfrm>
            <a:off x="447040" y="1045030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COMPANY: TATA Advanced Systems Limited (TASL)</a:t>
            </a:r>
          </a:p>
          <a:p>
            <a:r>
              <a:rPr lang="en-IN" dirty="0"/>
              <a:t>INDUSTRY: Aerospace, </a:t>
            </a:r>
            <a:r>
              <a:rPr lang="en-IN" dirty="0" err="1"/>
              <a:t>Defense</a:t>
            </a:r>
            <a:r>
              <a:rPr lang="en-IN" dirty="0"/>
              <a:t>, and Security Solutions</a:t>
            </a:r>
          </a:p>
          <a:p>
            <a:endParaRPr lang="en-IN" dirty="0"/>
          </a:p>
          <a:p>
            <a:r>
              <a:rPr lang="en-IN" b="1" dirty="0"/>
              <a:t>OVERVIEW:</a:t>
            </a:r>
          </a:p>
          <a:p>
            <a:r>
              <a:rPr lang="en-IN" dirty="0"/>
              <a:t>• Strategic unit of Tata Group focusing on high-technology </a:t>
            </a:r>
            <a:r>
              <a:rPr lang="en-IN" dirty="0" err="1"/>
              <a:t>defense</a:t>
            </a:r>
            <a:r>
              <a:rPr lang="en-IN" dirty="0"/>
              <a:t> solutions</a:t>
            </a:r>
          </a:p>
          <a:p>
            <a:r>
              <a:rPr lang="en-IN" dirty="0"/>
              <a:t>• Critical infrastructure supporting national security projects</a:t>
            </a:r>
          </a:p>
          <a:p>
            <a:r>
              <a:rPr lang="en-IN" dirty="0"/>
              <a:t>• State-of-the-art IT security implementations</a:t>
            </a:r>
          </a:p>
          <a:p>
            <a:r>
              <a:rPr lang="en-IN" dirty="0"/>
              <a:t>• Compliance with stringent </a:t>
            </a:r>
            <a:r>
              <a:rPr lang="en-IN" dirty="0" err="1"/>
              <a:t>defense</a:t>
            </a:r>
            <a:r>
              <a:rPr lang="en-IN" dirty="0"/>
              <a:t> security standards</a:t>
            </a:r>
          </a:p>
          <a:p>
            <a:endParaRPr lang="en-IN" dirty="0"/>
          </a:p>
          <a:p>
            <a:r>
              <a:rPr lang="en-IN" b="1" dirty="0"/>
              <a:t>IT DEPARTMENT ROLE:</a:t>
            </a:r>
          </a:p>
          <a:p>
            <a:r>
              <a:rPr lang="en-IN" dirty="0"/>
              <a:t>• Provides secure, scalable IT infrastructure</a:t>
            </a:r>
          </a:p>
          <a:p>
            <a:r>
              <a:rPr lang="en-IN" dirty="0"/>
              <a:t>• Manages endpoint security for classified projects</a:t>
            </a:r>
          </a:p>
          <a:p>
            <a:r>
              <a:rPr lang="en-IN" dirty="0"/>
              <a:t>• Implements </a:t>
            </a:r>
            <a:r>
              <a:rPr lang="en-IN" dirty="0" err="1"/>
              <a:t>defense</a:t>
            </a:r>
            <a:r>
              <a:rPr lang="en-IN" dirty="0"/>
              <a:t>-grade security protocols</a:t>
            </a:r>
          </a:p>
          <a:p>
            <a:r>
              <a:rPr lang="en-IN" dirty="0"/>
              <a:t>• Ensures compliance with regulatory requirements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53A6-07FE-7750-5C5E-E0257229E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63CF-9797-E62A-AAD9-EDDEF96E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34690-90AC-1088-C350-8ADBDC4B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649E1-AC5B-0DEB-7BF6-F73FFD11DF3E}"/>
              </a:ext>
            </a:extLst>
          </p:cNvPr>
          <p:cNvSpPr txBox="1"/>
          <p:nvPr/>
        </p:nvSpPr>
        <p:spPr>
          <a:xfrm>
            <a:off x="447040" y="104503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b="1" dirty="0"/>
              <a:t>KEY SECURITY AREAS:</a:t>
            </a:r>
          </a:p>
          <a:p>
            <a:pPr latinLnBrk="1"/>
            <a:r>
              <a:rPr lang="en-US" dirty="0"/>
              <a:t>1. Network &amp; Endpoint Security</a:t>
            </a:r>
          </a:p>
          <a:p>
            <a:pPr latinLnBrk="1"/>
            <a:r>
              <a:rPr lang="en-US" dirty="0"/>
              <a:t>2. Secure Device Management (MDM)</a:t>
            </a:r>
          </a:p>
          <a:p>
            <a:pPr latinLnBrk="1"/>
            <a:r>
              <a:rPr lang="en-US" dirty="0"/>
              <a:t>3. Data Protection &amp; Encryption</a:t>
            </a:r>
          </a:p>
          <a:p>
            <a:pPr latinLnBrk="1"/>
            <a:r>
              <a:rPr lang="en-US" dirty="0"/>
              <a:t>4. Security Operations Center (SOC)</a:t>
            </a:r>
          </a:p>
          <a:p>
            <a:pPr latinLnBrk="1"/>
            <a:r>
              <a:rPr lang="en-US" dirty="0"/>
              <a:t>5. Compliance Management</a:t>
            </a:r>
          </a:p>
          <a:p>
            <a:pPr latinLnBrk="1"/>
            <a:endParaRPr lang="en-US" dirty="0"/>
          </a:p>
          <a:p>
            <a:pPr latinLnBrk="1"/>
            <a:r>
              <a:rPr lang="en-US" b="1" dirty="0"/>
              <a:t>INTERNSHIP DETAILS:</a:t>
            </a:r>
          </a:p>
          <a:p>
            <a:pPr latinLnBrk="1"/>
            <a:r>
              <a:rPr lang="en-US" dirty="0"/>
              <a:t>• Duration: 05-Jan-2026 to 05-Apr-2026</a:t>
            </a:r>
          </a:p>
          <a:p>
            <a:pPr latinLnBrk="1"/>
            <a:r>
              <a:rPr lang="en-US" dirty="0"/>
              <a:t>• Location: Bengaluru, Electronics City</a:t>
            </a:r>
          </a:p>
          <a:p>
            <a:pPr latinLnBrk="1"/>
            <a:r>
              <a:rPr lang="en-US" dirty="0"/>
              <a:t>• Department: IT - Endpoint Security Unit</a:t>
            </a:r>
          </a:p>
        </p:txBody>
      </p:sp>
    </p:spTree>
    <p:extLst>
      <p:ext uri="{BB962C8B-B14F-4D97-AF65-F5344CB8AC3E}">
        <p14:creationId xmlns:p14="http://schemas.microsoft.com/office/powerpoint/2010/main" val="4183151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Endpoint Security And Mobile Device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C006CB-868C-A15A-BFE4-AB4CB671B833}"/>
              </a:ext>
            </a:extLst>
          </p:cNvPr>
          <p:cNvSpPr txBox="1"/>
          <p:nvPr/>
        </p:nvSpPr>
        <p:spPr>
          <a:xfrm>
            <a:off x="731520" y="939026"/>
            <a:ext cx="116738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b="1" dirty="0"/>
              <a:t>TECHNOLOGIES USED:                                      </a:t>
            </a:r>
          </a:p>
          <a:p>
            <a:r>
              <a:rPr lang="en-IN" dirty="0"/>
              <a:t>• Microsoft Intune MDM</a:t>
            </a:r>
          </a:p>
          <a:p>
            <a:r>
              <a:rPr lang="en-IN" dirty="0"/>
              <a:t>• Microsoft Defender for Endpoint</a:t>
            </a:r>
          </a:p>
          <a:p>
            <a:r>
              <a:rPr lang="en-IN" dirty="0"/>
              <a:t>• Graph API for automation</a:t>
            </a:r>
          </a:p>
          <a:p>
            <a:r>
              <a:rPr lang="en-IN" dirty="0"/>
              <a:t>• </a:t>
            </a:r>
            <a:r>
              <a:rPr lang="en-IN" dirty="0" err="1"/>
              <a:t>WinPak</a:t>
            </a:r>
            <a:r>
              <a:rPr lang="en-IN" dirty="0"/>
              <a:t> Attendance Systems</a:t>
            </a:r>
          </a:p>
          <a:p>
            <a:r>
              <a:rPr lang="en-IN" dirty="0"/>
              <a:t>• Azure Functions &amp; Logic Apps</a:t>
            </a:r>
          </a:p>
          <a:p>
            <a:r>
              <a:rPr lang="en-IN" dirty="0"/>
              <a:t>• PowerShell for automation</a:t>
            </a:r>
          </a:p>
          <a:p>
            <a:r>
              <a:rPr lang="en-IN" dirty="0"/>
              <a:t>• SQL Server for database</a:t>
            </a:r>
          </a:p>
          <a:p>
            <a:endParaRPr lang="en-IN" b="1" dirty="0"/>
          </a:p>
          <a:p>
            <a:r>
              <a:rPr lang="en-IN" b="1" dirty="0"/>
              <a:t>KEY RESPONSIBILITIES:</a:t>
            </a:r>
          </a:p>
          <a:p>
            <a:r>
              <a:rPr lang="en-IN" dirty="0"/>
              <a:t>1. Intune MDM Configuration &amp; Management</a:t>
            </a:r>
          </a:p>
          <a:p>
            <a:r>
              <a:rPr lang="en-IN" dirty="0"/>
              <a:t>2. Endpoint Security Testing</a:t>
            </a:r>
          </a:p>
          <a:p>
            <a:r>
              <a:rPr lang="en-IN" dirty="0"/>
              <a:t>3. Device </a:t>
            </a:r>
            <a:r>
              <a:rPr lang="en-IN" dirty="0" err="1"/>
              <a:t>Enrollment</a:t>
            </a:r>
            <a:endParaRPr lang="en-IN" dirty="0"/>
          </a:p>
          <a:p>
            <a:r>
              <a:rPr lang="en-IN" dirty="0"/>
              <a:t>4. Security Compliance Monitoring</a:t>
            </a:r>
          </a:p>
          <a:p>
            <a:r>
              <a:rPr lang="en-IN" dirty="0"/>
              <a:t>5. Automated Security Workflows</a:t>
            </a:r>
          </a:p>
          <a:p>
            <a:r>
              <a:rPr lang="en-IN" dirty="0"/>
              <a:t>6. Incident Response Support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430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241A93-E78C-83B6-AF73-C30E6F3CFD93}"/>
              </a:ext>
            </a:extLst>
          </p:cNvPr>
          <p:cNvSpPr txBox="1"/>
          <p:nvPr/>
        </p:nvSpPr>
        <p:spPr>
          <a:xfrm>
            <a:off x="838200" y="1022985"/>
            <a:ext cx="6096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TEAM STRUCTURE:</a:t>
            </a:r>
          </a:p>
          <a:p>
            <a:r>
              <a:rPr lang="en-IN" sz="1400" dirty="0"/>
              <a:t>IT Department - Endpoint Management Unit</a:t>
            </a:r>
          </a:p>
          <a:p>
            <a:r>
              <a:rPr lang="en-IN" sz="1400" dirty="0"/>
              <a:t>Security Analysts (3 members)</a:t>
            </a:r>
          </a:p>
          <a:p>
            <a:r>
              <a:rPr lang="en-IN" sz="1400" dirty="0"/>
              <a:t>MDM Administrators (2 members)</a:t>
            </a:r>
          </a:p>
          <a:p>
            <a:r>
              <a:rPr lang="en-IN" sz="1400" dirty="0"/>
              <a:t>Network Security Engineers (2 members)</a:t>
            </a:r>
          </a:p>
          <a:p>
            <a:r>
              <a:rPr lang="en-IN" sz="1400" dirty="0"/>
              <a:t>Intern: Myself (Endpoint Security Testing)</a:t>
            </a:r>
          </a:p>
          <a:p>
            <a:endParaRPr lang="en-IN" sz="1400" dirty="0"/>
          </a:p>
          <a:p>
            <a:r>
              <a:rPr lang="en-IN" sz="1400" b="1" dirty="0"/>
              <a:t>MY ROLE &amp; RESPONSIBILITIES:</a:t>
            </a:r>
          </a:p>
          <a:p>
            <a:r>
              <a:rPr lang="en-IN" sz="1400" dirty="0"/>
              <a:t>✓ Assist in endpoint device security testing</a:t>
            </a:r>
          </a:p>
          <a:p>
            <a:r>
              <a:rPr lang="en-IN" sz="1400" dirty="0"/>
              <a:t>✓ Support Intune MDM deployment and management</a:t>
            </a:r>
          </a:p>
          <a:p>
            <a:r>
              <a:rPr lang="en-IN" sz="1400" dirty="0"/>
              <a:t>✓ Implement automated security policies</a:t>
            </a:r>
          </a:p>
          <a:p>
            <a:r>
              <a:rPr lang="en-IN" sz="1400" dirty="0"/>
              <a:t>✓ Test device </a:t>
            </a:r>
            <a:r>
              <a:rPr lang="en-IN" sz="1400" dirty="0" err="1"/>
              <a:t>enrollment</a:t>
            </a:r>
            <a:r>
              <a:rPr lang="en-IN" sz="1400" dirty="0"/>
              <a:t> and compliance</a:t>
            </a:r>
          </a:p>
          <a:p>
            <a:r>
              <a:rPr lang="en-IN" sz="1400" dirty="0"/>
              <a:t>✓ Document security configurations</a:t>
            </a:r>
          </a:p>
          <a:p>
            <a:r>
              <a:rPr lang="en-IN" sz="1400" dirty="0"/>
              <a:t>✓ Monitor security alerts and incidents</a:t>
            </a:r>
          </a:p>
          <a:p>
            <a:endParaRPr lang="en-IN" sz="1400" dirty="0"/>
          </a:p>
          <a:p>
            <a:r>
              <a:rPr lang="en-IN" sz="1400" b="1" dirty="0"/>
              <a:t>REPORTING STRUCTURE:</a:t>
            </a:r>
          </a:p>
          <a:p>
            <a:r>
              <a:rPr lang="en-IN" sz="1400" dirty="0"/>
              <a:t>• Reporting Manager: Mr. Satya Prasad</a:t>
            </a:r>
          </a:p>
          <a:p>
            <a:r>
              <a:rPr lang="en-IN" sz="1400" dirty="0"/>
              <a:t>• Designation: Team Lead - Endpoint Management</a:t>
            </a:r>
          </a:p>
          <a:p>
            <a:r>
              <a:rPr lang="en-IN" sz="1400" dirty="0"/>
              <a:t>• Daily Stand-ups: 8:30 AM</a:t>
            </a:r>
          </a:p>
          <a:p>
            <a:r>
              <a:rPr lang="en-IN" sz="1400" dirty="0"/>
              <a:t>• Weekly Review: Every Friday</a:t>
            </a:r>
          </a:p>
          <a:p>
            <a:r>
              <a:rPr lang="en-IN" sz="1400" dirty="0"/>
              <a:t>• Project Updates: Bi-weekly presentations</a:t>
            </a:r>
          </a:p>
        </p:txBody>
      </p:sp>
    </p:spTree>
    <p:extLst>
      <p:ext uri="{BB962C8B-B14F-4D97-AF65-F5344CB8AC3E}">
        <p14:creationId xmlns:p14="http://schemas.microsoft.com/office/powerpoint/2010/main" val="2652786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8C608-911A-74BB-586F-90CB27A37B12}"/>
              </a:ext>
            </a:extLst>
          </p:cNvPr>
          <p:cNvSpPr txBox="1"/>
          <p:nvPr/>
        </p:nvSpPr>
        <p:spPr>
          <a:xfrm>
            <a:off x="934720" y="1027609"/>
            <a:ext cx="74168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TECHNICAL CHALLENGES:</a:t>
            </a:r>
          </a:p>
          <a:p>
            <a:r>
              <a:rPr lang="en-IN" sz="1400" dirty="0"/>
              <a:t>1. Complex Enterprise Architecture</a:t>
            </a:r>
          </a:p>
          <a:p>
            <a:r>
              <a:rPr lang="en-IN" sz="1400" dirty="0"/>
              <a:t>   • Large-scale infrastructure with multiple integration points</a:t>
            </a:r>
          </a:p>
          <a:p>
            <a:r>
              <a:rPr lang="en-IN" sz="1400" dirty="0"/>
              <a:t>   • Legacy systems compatibility issues</a:t>
            </a:r>
          </a:p>
          <a:p>
            <a:r>
              <a:rPr lang="en-IN" sz="1400" dirty="0"/>
              <a:t>   • Performance optimization for real-time processing</a:t>
            </a:r>
          </a:p>
          <a:p>
            <a:endParaRPr lang="en-IN" sz="1400" dirty="0"/>
          </a:p>
          <a:p>
            <a:r>
              <a:rPr lang="en-IN" sz="1400" dirty="0"/>
              <a:t>2. Security Implementation Hurdles</a:t>
            </a:r>
          </a:p>
          <a:p>
            <a:r>
              <a:rPr lang="en-IN" sz="1400" dirty="0"/>
              <a:t>   • Balancing security with user productivity</a:t>
            </a:r>
          </a:p>
          <a:p>
            <a:r>
              <a:rPr lang="en-IN" sz="1400" dirty="0"/>
              <a:t>   • Certificate management complexities</a:t>
            </a:r>
          </a:p>
          <a:p>
            <a:r>
              <a:rPr lang="en-IN" sz="1400" dirty="0"/>
              <a:t>   • Policy conflicts and resolution</a:t>
            </a:r>
          </a:p>
          <a:p>
            <a:endParaRPr lang="en-IN" sz="1400" dirty="0"/>
          </a:p>
          <a:p>
            <a:r>
              <a:rPr lang="en-IN" sz="1400" dirty="0"/>
              <a:t>3. Integration Difficulties</a:t>
            </a:r>
          </a:p>
          <a:p>
            <a:r>
              <a:rPr lang="en-IN" sz="1400" dirty="0"/>
              <a:t>   • API rate limiting and throttling</a:t>
            </a:r>
          </a:p>
          <a:p>
            <a:r>
              <a:rPr lang="en-IN" sz="1400" dirty="0"/>
              <a:t>   • Data synchronization delays</a:t>
            </a:r>
          </a:p>
          <a:p>
            <a:r>
              <a:rPr lang="en-IN" sz="1400" dirty="0"/>
              <a:t>   • Error handling and recovery mechanisms</a:t>
            </a:r>
          </a:p>
          <a:p>
            <a:endParaRPr lang="en-IN" sz="1400" dirty="0"/>
          </a:p>
          <a:p>
            <a:r>
              <a:rPr lang="en-IN" sz="1400" b="1" dirty="0"/>
              <a:t>PROFESSIONAL CHALLENGES:</a:t>
            </a:r>
          </a:p>
          <a:p>
            <a:r>
              <a:rPr lang="en-IN" sz="1400" dirty="0"/>
              <a:t>1. Corporate Environment Adaptation</a:t>
            </a:r>
          </a:p>
          <a:p>
            <a:r>
              <a:rPr lang="en-IN" sz="1400" dirty="0"/>
              <a:t>   • Understanding enterprise workflows</a:t>
            </a:r>
          </a:p>
          <a:p>
            <a:r>
              <a:rPr lang="en-IN" sz="1400" dirty="0"/>
              <a:t>   • Compliance with strict security protocols</a:t>
            </a:r>
          </a:p>
          <a:p>
            <a:r>
              <a:rPr lang="en-IN" sz="1400" dirty="0"/>
              <a:t>   • Professional communication standards</a:t>
            </a:r>
          </a:p>
        </p:txBody>
      </p:sp>
    </p:spTree>
    <p:extLst>
      <p:ext uri="{BB962C8B-B14F-4D97-AF65-F5344CB8AC3E}">
        <p14:creationId xmlns:p14="http://schemas.microsoft.com/office/powerpoint/2010/main" val="2966286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0DF1E-EA1B-67E1-0D42-26B602EE0A7A}"/>
              </a:ext>
            </a:extLst>
          </p:cNvPr>
          <p:cNvSpPr txBox="1"/>
          <p:nvPr/>
        </p:nvSpPr>
        <p:spPr>
          <a:xfrm>
            <a:off x="838200" y="1228397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PRIMARY OBJECTIVES:</a:t>
            </a:r>
          </a:p>
          <a:p>
            <a:r>
              <a:rPr lang="en-IN" sz="1400" dirty="0"/>
              <a:t>1. Design and implement automated device security system</a:t>
            </a:r>
          </a:p>
          <a:p>
            <a:r>
              <a:rPr lang="en-IN" sz="1400" dirty="0"/>
              <a:t>2. Integrate attendance tracking with device management</a:t>
            </a:r>
          </a:p>
          <a:p>
            <a:r>
              <a:rPr lang="en-IN" sz="1400" dirty="0"/>
              <a:t>3. Achieve real-time security policy application</a:t>
            </a:r>
          </a:p>
          <a:p>
            <a:r>
              <a:rPr lang="en-IN" sz="1400" dirty="0"/>
              <a:t>4. Ensure minimal user disruption</a:t>
            </a:r>
          </a:p>
          <a:p>
            <a:r>
              <a:rPr lang="en-IN" sz="1400" dirty="0"/>
              <a:t>5. Maintain compliance with security standards</a:t>
            </a:r>
          </a:p>
          <a:p>
            <a:endParaRPr lang="en-IN" sz="1400" dirty="0"/>
          </a:p>
          <a:p>
            <a:r>
              <a:rPr lang="en-IN" sz="1400" b="1" dirty="0"/>
              <a:t>SPECIFIC GOALS:</a:t>
            </a:r>
          </a:p>
          <a:p>
            <a:r>
              <a:rPr lang="en-IN" sz="1400" dirty="0"/>
              <a:t>• Successfully integrate </a:t>
            </a:r>
            <a:r>
              <a:rPr lang="en-IN" sz="1400" dirty="0" err="1"/>
              <a:t>WinPak</a:t>
            </a:r>
            <a:r>
              <a:rPr lang="en-IN" sz="1400" dirty="0"/>
              <a:t> with Intune MDM</a:t>
            </a:r>
          </a:p>
          <a:p>
            <a:r>
              <a:rPr lang="en-IN" sz="1400" dirty="0"/>
              <a:t>• Achieve &lt;5 minute policy application time</a:t>
            </a:r>
          </a:p>
          <a:p>
            <a:r>
              <a:rPr lang="en-IN" sz="1400" dirty="0"/>
              <a:t>• Maintain 95% system uptime</a:t>
            </a:r>
          </a:p>
          <a:p>
            <a:r>
              <a:rPr lang="en-IN" sz="1400" dirty="0"/>
              <a:t>• Reduce manual security interventions by 40%</a:t>
            </a:r>
          </a:p>
          <a:p>
            <a:r>
              <a:rPr lang="en-IN" sz="1400" dirty="0"/>
              <a:t>• Implement comprehensive monitoring and alerting</a:t>
            </a:r>
          </a:p>
          <a:p>
            <a:endParaRPr lang="en-IN" sz="1400" dirty="0"/>
          </a:p>
          <a:p>
            <a:r>
              <a:rPr lang="en-IN" sz="1400" b="1" dirty="0"/>
              <a:t>EXPECTED OUTCOMES:</a:t>
            </a:r>
          </a:p>
          <a:p>
            <a:r>
              <a:rPr lang="en-IN" sz="1400" dirty="0"/>
              <a:t>1. Enhanced endpoint security posture</a:t>
            </a:r>
          </a:p>
          <a:p>
            <a:r>
              <a:rPr lang="en-IN" sz="1400" dirty="0"/>
              <a:t>2. Automated security workflows</a:t>
            </a:r>
          </a:p>
          <a:p>
            <a:r>
              <a:rPr lang="en-IN" sz="1400" dirty="0"/>
              <a:t>3. Reduced attack surface</a:t>
            </a:r>
          </a:p>
          <a:p>
            <a:r>
              <a:rPr lang="en-IN" sz="1400" dirty="0"/>
              <a:t>4. Improved compliance reporting</a:t>
            </a:r>
          </a:p>
          <a:p>
            <a:r>
              <a:rPr lang="en-IN" sz="1400" dirty="0"/>
              <a:t>5. Scalable security architecture</a:t>
            </a:r>
          </a:p>
        </p:txBody>
      </p:sp>
    </p:spTree>
    <p:extLst>
      <p:ext uri="{BB962C8B-B14F-4D97-AF65-F5344CB8AC3E}">
        <p14:creationId xmlns:p14="http://schemas.microsoft.com/office/powerpoint/2010/main" val="4162507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AFB8D-5428-2359-082D-0D1EAB34464E}"/>
              </a:ext>
            </a:extLst>
          </p:cNvPr>
          <p:cNvSpPr txBox="1"/>
          <p:nvPr/>
        </p:nvSpPr>
        <p:spPr>
          <a:xfrm>
            <a:off x="838200" y="1184366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EXISTING SOLUTIONS:</a:t>
            </a:r>
          </a:p>
          <a:p>
            <a:r>
              <a:rPr lang="en-IN" sz="1400" dirty="0"/>
              <a:t>1. Traditional MDM Systems</a:t>
            </a:r>
          </a:p>
          <a:p>
            <a:r>
              <a:rPr lang="en-IN" sz="1400" dirty="0"/>
              <a:t>   • Static policy enforcement</a:t>
            </a:r>
          </a:p>
          <a:p>
            <a:r>
              <a:rPr lang="en-IN" sz="1400" dirty="0"/>
              <a:t>   • Manual configuration management</a:t>
            </a:r>
          </a:p>
          <a:p>
            <a:r>
              <a:rPr lang="en-IN" sz="1400" dirty="0"/>
              <a:t>   • Limited context-awareness</a:t>
            </a:r>
          </a:p>
          <a:p>
            <a:r>
              <a:rPr lang="en-IN" sz="1400" dirty="0"/>
              <a:t>   • High administrative overhead</a:t>
            </a:r>
          </a:p>
          <a:p>
            <a:endParaRPr lang="en-IN" sz="1400" dirty="0"/>
          </a:p>
          <a:p>
            <a:r>
              <a:rPr lang="en-IN" sz="1400" dirty="0"/>
              <a:t>2. Context-Aware Security Systems</a:t>
            </a:r>
          </a:p>
          <a:p>
            <a:r>
              <a:rPr lang="en-IN" sz="1400" dirty="0"/>
              <a:t>   • Location-based policies</a:t>
            </a:r>
          </a:p>
          <a:p>
            <a:r>
              <a:rPr lang="en-IN" sz="1400" dirty="0"/>
              <a:t>   • Time-based restrictions</a:t>
            </a:r>
          </a:p>
          <a:p>
            <a:r>
              <a:rPr lang="en-IN" sz="1400" dirty="0"/>
              <a:t>   • Network-aware controls</a:t>
            </a:r>
          </a:p>
          <a:p>
            <a:r>
              <a:rPr lang="en-IN" sz="1400" dirty="0"/>
              <a:t>   • Limited physical presence integration</a:t>
            </a:r>
          </a:p>
          <a:p>
            <a:endParaRPr lang="en-IN" sz="1400" dirty="0"/>
          </a:p>
          <a:p>
            <a:r>
              <a:rPr lang="en-IN" sz="1400" b="1" dirty="0"/>
              <a:t>RESEARCH GAPS IDENTIFIED:</a:t>
            </a:r>
          </a:p>
          <a:p>
            <a:r>
              <a:rPr lang="en-IN" sz="1400" dirty="0"/>
              <a:t>1. Lack of physical attendance integration</a:t>
            </a:r>
          </a:p>
          <a:p>
            <a:r>
              <a:rPr lang="en-IN" sz="1400" dirty="0"/>
              <a:t>2. Manual intervention requirements</a:t>
            </a:r>
          </a:p>
          <a:p>
            <a:r>
              <a:rPr lang="en-IN" sz="1400" dirty="0"/>
              <a:t>3. Delayed policy application</a:t>
            </a:r>
          </a:p>
          <a:p>
            <a:r>
              <a:rPr lang="en-IN" sz="1400" dirty="0"/>
              <a:t>4. Limited automation capabilities</a:t>
            </a:r>
          </a:p>
          <a:p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56527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51104-7BCC-C14F-C9DB-45709C6A5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020" y="1257300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14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1C7CF-49BC-C076-6301-7B76221B03DE}"/>
              </a:ext>
            </a:extLst>
          </p:cNvPr>
          <p:cNvSpPr txBox="1"/>
          <p:nvPr/>
        </p:nvSpPr>
        <p:spPr>
          <a:xfrm>
            <a:off x="838200" y="938887"/>
            <a:ext cx="6096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CURRENT ISSUES:</a:t>
            </a:r>
          </a:p>
          <a:p>
            <a:r>
              <a:rPr lang="en-IN" sz="1400" dirty="0"/>
              <a:t>1. STATIC SECURITY POLICIES</a:t>
            </a:r>
          </a:p>
          <a:p>
            <a:r>
              <a:rPr lang="en-IN" sz="1400" dirty="0"/>
              <a:t>   • Same policies applied regardless of location</a:t>
            </a:r>
          </a:p>
          <a:p>
            <a:r>
              <a:rPr lang="en-IN" sz="1400" dirty="0"/>
              <a:t>   • No adaptation to user presence</a:t>
            </a:r>
          </a:p>
          <a:p>
            <a:r>
              <a:rPr lang="en-IN" sz="1400" dirty="0"/>
              <a:t>   • Security gaps during office hours</a:t>
            </a:r>
          </a:p>
          <a:p>
            <a:endParaRPr lang="en-IN" sz="1400" dirty="0"/>
          </a:p>
          <a:p>
            <a:r>
              <a:rPr lang="en-IN" sz="1400" dirty="0"/>
              <a:t>2. MANUAL MANAGEMENT</a:t>
            </a:r>
          </a:p>
          <a:p>
            <a:r>
              <a:rPr lang="en-IN" sz="1400" dirty="0"/>
              <a:t>   • IT team manually adjusts device settings</a:t>
            </a:r>
          </a:p>
          <a:p>
            <a:r>
              <a:rPr lang="en-IN" sz="1400" dirty="0"/>
              <a:t>   • Time-consuming and error-prone</a:t>
            </a:r>
          </a:p>
          <a:p>
            <a:r>
              <a:rPr lang="en-IN" sz="1400" dirty="0"/>
              <a:t>   • Delayed response to security needs</a:t>
            </a:r>
          </a:p>
          <a:p>
            <a:endParaRPr lang="en-IN" sz="1400" dirty="0"/>
          </a:p>
          <a:p>
            <a:r>
              <a:rPr lang="en-IN" sz="1400" dirty="0"/>
              <a:t>3. PRODUCTIVITY VS SECURITY CONFLICT</a:t>
            </a:r>
          </a:p>
          <a:p>
            <a:r>
              <a:rPr lang="en-IN" sz="1400" dirty="0"/>
              <a:t>   • Strict security hinders productivity</a:t>
            </a:r>
          </a:p>
          <a:p>
            <a:r>
              <a:rPr lang="en-IN" sz="1400" dirty="0"/>
              <a:t>   • Lenient policies create vulnerabilities</a:t>
            </a:r>
          </a:p>
          <a:p>
            <a:r>
              <a:rPr lang="en-IN" sz="1400" dirty="0"/>
              <a:t>   • No balanced approach</a:t>
            </a:r>
          </a:p>
          <a:p>
            <a:endParaRPr lang="en-IN" sz="1400" dirty="0"/>
          </a:p>
          <a:p>
            <a:r>
              <a:rPr lang="en-IN" sz="1400" dirty="0"/>
              <a:t>4. COMPLIANCE CHALLENGES</a:t>
            </a:r>
          </a:p>
          <a:p>
            <a:r>
              <a:rPr lang="en-IN" sz="1400" dirty="0"/>
              <a:t>   • Difficulty proving security compliance</a:t>
            </a:r>
          </a:p>
          <a:p>
            <a:r>
              <a:rPr lang="en-IN" sz="1400" dirty="0"/>
              <a:t>   • Manual audit trails</a:t>
            </a:r>
          </a:p>
          <a:p>
            <a:r>
              <a:rPr lang="en-IN" sz="1400" dirty="0"/>
              <a:t>   • Inconsistent policy application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824088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0CC9A-3E74-0A49-6DC6-1467AEB38B27}"/>
              </a:ext>
            </a:extLst>
          </p:cNvPr>
          <p:cNvSpPr txBox="1"/>
          <p:nvPr/>
        </p:nvSpPr>
        <p:spPr>
          <a:xfrm>
            <a:off x="1016000" y="1166842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HARDWARE:</a:t>
            </a:r>
          </a:p>
          <a:p>
            <a:r>
              <a:rPr lang="en-IN" dirty="0"/>
              <a:t>• </a:t>
            </a:r>
            <a:r>
              <a:rPr lang="en-IN" dirty="0" err="1"/>
              <a:t>WinPak</a:t>
            </a:r>
            <a:r>
              <a:rPr lang="en-IN" dirty="0"/>
              <a:t> Server: Intel Xeon, 32GB RAM, 1TB SSD</a:t>
            </a:r>
          </a:p>
          <a:p>
            <a:r>
              <a:rPr lang="en-IN" dirty="0"/>
              <a:t>• Integration: Azure Standard D4s v3</a:t>
            </a:r>
          </a:p>
          <a:p>
            <a:r>
              <a:rPr lang="en-IN" dirty="0"/>
              <a:t>• Devices: iOS 14+/Android 10+/Windows 10+</a:t>
            </a:r>
          </a:p>
          <a:p>
            <a:endParaRPr lang="en-IN" dirty="0"/>
          </a:p>
          <a:p>
            <a:r>
              <a:rPr lang="en-IN" b="1" dirty="0"/>
              <a:t>SOFTWARE:</a:t>
            </a:r>
          </a:p>
          <a:p>
            <a:r>
              <a:rPr lang="en-IN" dirty="0"/>
              <a:t>• </a:t>
            </a:r>
            <a:r>
              <a:rPr lang="en-IN" dirty="0" err="1"/>
              <a:t>WinPak</a:t>
            </a:r>
            <a:r>
              <a:rPr lang="en-IN" dirty="0"/>
              <a:t> Enterprise v4.2</a:t>
            </a:r>
          </a:p>
          <a:p>
            <a:r>
              <a:rPr lang="en-IN" dirty="0"/>
              <a:t>• Microsoft Intune</a:t>
            </a:r>
          </a:p>
          <a:p>
            <a:r>
              <a:rPr lang="en-IN" dirty="0"/>
              <a:t>• Azure Functions</a:t>
            </a:r>
          </a:p>
          <a:p>
            <a:r>
              <a:rPr lang="en-IN" dirty="0"/>
              <a:t>• SQL Server 2019</a:t>
            </a:r>
          </a:p>
          <a:p>
            <a:endParaRPr lang="en-IN" dirty="0"/>
          </a:p>
          <a:p>
            <a:r>
              <a:rPr lang="en-IN" b="1" dirty="0"/>
              <a:t>SECURITY:</a:t>
            </a:r>
          </a:p>
          <a:p>
            <a:r>
              <a:rPr lang="en-IN" dirty="0"/>
              <a:t>• OAuth 2.0 + MFA</a:t>
            </a:r>
          </a:p>
          <a:p>
            <a:r>
              <a:rPr lang="en-IN" dirty="0"/>
              <a:t>• TLS 1.2+, AES-256 encryption</a:t>
            </a:r>
          </a:p>
          <a:p>
            <a:r>
              <a:rPr lang="en-IN" dirty="0"/>
              <a:t>• ISO 27001/NIST compliance</a:t>
            </a:r>
          </a:p>
          <a:p>
            <a:r>
              <a:rPr lang="en-IN" dirty="0"/>
              <a:t>• SIEM integration</a:t>
            </a:r>
          </a:p>
        </p:txBody>
      </p:sp>
    </p:spTree>
    <p:extLst>
      <p:ext uri="{BB962C8B-B14F-4D97-AF65-F5344CB8AC3E}">
        <p14:creationId xmlns:p14="http://schemas.microsoft.com/office/powerpoint/2010/main" val="996502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65169-1D5E-4C03-8A33-BC5ABBF2FF90}"/>
              </a:ext>
            </a:extLst>
          </p:cNvPr>
          <p:cNvSpPr txBox="1"/>
          <p:nvPr/>
        </p:nvSpPr>
        <p:spPr>
          <a:xfrm>
            <a:off x="1056640" y="130534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SECURITY:</a:t>
            </a:r>
          </a:p>
          <a:p>
            <a:r>
              <a:rPr lang="en-IN" dirty="0"/>
              <a:t>✓ Real-time policy enforcement</a:t>
            </a:r>
          </a:p>
          <a:p>
            <a:r>
              <a:rPr lang="en-IN" dirty="0"/>
              <a:t>✓ Context-aware adaptation</a:t>
            </a:r>
          </a:p>
          <a:p>
            <a:r>
              <a:rPr lang="en-IN" dirty="0"/>
              <a:t>✓ Reduced attack surface</a:t>
            </a:r>
          </a:p>
          <a:p>
            <a:r>
              <a:rPr lang="en-IN" dirty="0"/>
              <a:t>✓ Automated compliance</a:t>
            </a:r>
          </a:p>
          <a:p>
            <a:endParaRPr lang="en-IN" dirty="0"/>
          </a:p>
          <a:p>
            <a:r>
              <a:rPr lang="en-IN" b="1" dirty="0"/>
              <a:t>OPERATIONAL:</a:t>
            </a:r>
          </a:p>
          <a:p>
            <a:r>
              <a:rPr lang="en-IN" dirty="0"/>
              <a:t>✓ 40% reduced IT workload</a:t>
            </a:r>
          </a:p>
          <a:p>
            <a:r>
              <a:rPr lang="en-IN" dirty="0"/>
              <a:t>✓ &lt;5 minute policy application</a:t>
            </a:r>
          </a:p>
          <a:p>
            <a:r>
              <a:rPr lang="en-IN" dirty="0"/>
              <a:t>✓ Scalable architecture</a:t>
            </a:r>
          </a:p>
          <a:p>
            <a:endParaRPr lang="en-IN" dirty="0"/>
          </a:p>
          <a:p>
            <a:r>
              <a:rPr lang="en-IN" b="1" dirty="0"/>
              <a:t>BUSINESS:</a:t>
            </a:r>
          </a:p>
          <a:p>
            <a:r>
              <a:rPr lang="en-IN" dirty="0"/>
              <a:t>✓ Enhanced security posture</a:t>
            </a:r>
          </a:p>
          <a:p>
            <a:r>
              <a:rPr lang="en-IN" dirty="0"/>
              <a:t>✓ Regulatory compliance</a:t>
            </a:r>
          </a:p>
          <a:p>
            <a:r>
              <a:rPr lang="en-IN" dirty="0"/>
              <a:t>✓ Reduced incident costs</a:t>
            </a:r>
          </a:p>
        </p:txBody>
      </p:sp>
    </p:spTree>
    <p:extLst>
      <p:ext uri="{BB962C8B-B14F-4D97-AF65-F5344CB8AC3E}">
        <p14:creationId xmlns:p14="http://schemas.microsoft.com/office/powerpoint/2010/main" val="2828401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53E38-AD75-29B2-673F-E3E464E0B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73" y="1010853"/>
            <a:ext cx="8859327" cy="483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DC597-1F32-6B7E-B658-14C230EA2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C779-EC02-3126-BFFB-639CD5FE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F5968-096B-4133-FEE0-578A4052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B196A0-15D2-C2E9-8BB5-4BEEE3FB2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121197"/>
              </p:ext>
            </p:extLst>
          </p:nvPr>
        </p:nvGraphicFramePr>
        <p:xfrm>
          <a:off x="5001600" y="1184366"/>
          <a:ext cx="5320659" cy="461004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73553">
                  <a:extLst>
                    <a:ext uri="{9D8B030D-6E8A-4147-A177-3AD203B41FA5}">
                      <a16:colId xmlns:a16="http://schemas.microsoft.com/office/drawing/2014/main" val="958280943"/>
                    </a:ext>
                  </a:extLst>
                </a:gridCol>
                <a:gridCol w="1773553">
                  <a:extLst>
                    <a:ext uri="{9D8B030D-6E8A-4147-A177-3AD203B41FA5}">
                      <a16:colId xmlns:a16="http://schemas.microsoft.com/office/drawing/2014/main" val="3553754853"/>
                    </a:ext>
                  </a:extLst>
                </a:gridCol>
                <a:gridCol w="1773553">
                  <a:extLst>
                    <a:ext uri="{9D8B030D-6E8A-4147-A177-3AD203B41FA5}">
                      <a16:colId xmlns:a16="http://schemas.microsoft.com/office/drawing/2014/main" val="2646480900"/>
                    </a:ext>
                  </a:extLst>
                </a:gridCol>
              </a:tblGrid>
              <a:tr h="36556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Component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Technology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Purpose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extLst>
                  <a:ext uri="{0D108BD9-81ED-4DB2-BD59-A6C34878D82A}">
                    <a16:rowId xmlns:a16="http://schemas.microsoft.com/office/drawing/2014/main" val="2025220101"/>
                  </a:ext>
                </a:extLst>
              </a:tr>
              <a:tr h="81366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Presence Detection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WinPak Attendance API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 dirty="0">
                          <a:effectLst/>
                        </a:rPr>
                        <a:t>Captures employee check-in/out events</a:t>
                      </a:r>
                      <a:endParaRPr lang="en-US" sz="1700" b="0" dirty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35455839"/>
                  </a:ext>
                </a:extLst>
              </a:tr>
              <a:tr h="5896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Policy Engine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Azure Logic Apps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 dirty="0">
                          <a:effectLst/>
                        </a:rPr>
                        <a:t>Evaluates context and applies rules</a:t>
                      </a:r>
                      <a:endParaRPr lang="en-US" sz="1700" b="0" dirty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1791209446"/>
                  </a:ext>
                </a:extLst>
              </a:tr>
              <a:tr h="81366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Device Enforcer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Microsoft Intune Graph API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Pushes configuration to devices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401357299"/>
                  </a:ext>
                </a:extLst>
              </a:tr>
              <a:tr h="5896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Database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SQL Server 2019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Stores logs, compliance data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371338364"/>
                  </a:ext>
                </a:extLst>
              </a:tr>
              <a:tr h="5896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Dashboard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Power BI + Azure Dashboard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Real-time monitoring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3880021163"/>
                  </a:ext>
                </a:extLst>
              </a:tr>
              <a:tr h="5896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Alert System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Microsoft Teams + Email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 dirty="0">
                          <a:effectLst/>
                        </a:rPr>
                        <a:t>Notifications for violations</a:t>
                      </a:r>
                      <a:endParaRPr lang="en-IN" sz="1700" b="0" dirty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23394358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C501EF8-C6EC-A69C-B602-FAB8BE0493EA}"/>
              </a:ext>
            </a:extLst>
          </p:cNvPr>
          <p:cNvSpPr txBox="1"/>
          <p:nvPr/>
        </p:nvSpPr>
        <p:spPr>
          <a:xfrm>
            <a:off x="4941215" y="809905"/>
            <a:ext cx="6093500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b="1" dirty="0">
                <a:solidFill>
                  <a:srgbClr val="0F1115"/>
                </a:solidFill>
                <a:effectLst/>
                <a:latin typeface="quote-cjk-patch"/>
              </a:rPr>
              <a:t>Component Diagram</a:t>
            </a:r>
          </a:p>
        </p:txBody>
      </p:sp>
    </p:spTree>
    <p:extLst>
      <p:ext uri="{BB962C8B-B14F-4D97-AF65-F5344CB8AC3E}">
        <p14:creationId xmlns:p14="http://schemas.microsoft.com/office/powerpoint/2010/main" val="50396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5F98B8-96BF-98AF-F169-83BD366E2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788383"/>
              </p:ext>
            </p:extLst>
          </p:nvPr>
        </p:nvGraphicFramePr>
        <p:xfrm>
          <a:off x="648418" y="1604349"/>
          <a:ext cx="10515600" cy="3327400"/>
        </p:xfrm>
        <a:graphic>
          <a:graphicData uri="http://schemas.openxmlformats.org/drawingml/2006/table">
            <a:tbl>
              <a:tblPr/>
              <a:tblGrid>
                <a:gridCol w="2399190">
                  <a:extLst>
                    <a:ext uri="{9D8B030D-6E8A-4147-A177-3AD203B41FA5}">
                      <a16:colId xmlns:a16="http://schemas.microsoft.com/office/drawing/2014/main" val="2559060473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3808421347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2263464259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1167586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Component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Status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Completed Features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Pending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073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WinPak Integration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100%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API connection, real-time fetching, webhooks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-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39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Intune MDM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90%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Auth, policy application, device queries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Bulk ops, error handling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633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Policy Engine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90%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Core logic, logging, threading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Device mapping, optimization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93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Dashboard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90%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API, real-time, basic UI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Charts, filters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69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Testing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90%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Unit tests, integration tests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Load testing, security testing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7893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A8C8F58E-4D43-CAB7-BA63-A757BF451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18" y="16051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547538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AF75EB42-4FC5-2CB1-A66D-039709B4D3FF}"/>
              </a:ext>
            </a:extLst>
          </p:cNvPr>
          <p:cNvSpPr txBox="1"/>
          <p:nvPr/>
        </p:nvSpPr>
        <p:spPr>
          <a:xfrm>
            <a:off x="312600" y="1209895"/>
            <a:ext cx="7998023" cy="262571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Github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link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provided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should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have public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access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permission.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943735"/>
                </a:solidFill>
                <a:latin typeface="Cambria"/>
                <a:cs typeface="Cambria"/>
              </a:rPr>
              <a:t>Github</a:t>
            </a:r>
            <a:r>
              <a:rPr sz="2400" b="1" spc="-75" dirty="0">
                <a:solidFill>
                  <a:srgbClr val="943735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943735"/>
                </a:solidFill>
                <a:latin typeface="Cambria"/>
                <a:cs typeface="Cambria"/>
              </a:rPr>
              <a:t>Link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24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https://github.com/saif8888888888888/TATA</a:t>
            </a:r>
            <a:r>
              <a:rPr lang="en-IN" sz="24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</a:rPr>
              <a:t> Advanced Systems Limited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6" name="Picture 5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5C917448-FD66-4910-6BA0-C09811E74C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623" y="777947"/>
            <a:ext cx="3863160" cy="386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39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7015</TotalTime>
  <Words>1296</Words>
  <Application>Microsoft Office PowerPoint</Application>
  <PresentationFormat>Widescreen</PresentationFormat>
  <Paragraphs>314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Cambria</vt:lpstr>
      <vt:lpstr>quote-cjk-patch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Working domain Endpoint Security And Mobile Device Management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Design</vt:lpstr>
      <vt:lpstr>System Implementation (At least 50%)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Saifulla Saif</cp:lastModifiedBy>
  <cp:revision>724</cp:revision>
  <dcterms:created xsi:type="dcterms:W3CDTF">2022-10-14T07:18:17Z</dcterms:created>
  <dcterms:modified xsi:type="dcterms:W3CDTF">2026-02-28T08:37:52Z</dcterms:modified>
</cp:coreProperties>
</file>